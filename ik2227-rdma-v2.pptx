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86" r:id="rId2"/>
  </p:sldMasterIdLst>
  <p:notesMasterIdLst>
    <p:notesMasterId r:id="rId61"/>
  </p:notesMasterIdLst>
  <p:handoutMasterIdLst>
    <p:handoutMasterId r:id="rId62"/>
  </p:handoutMasterIdLst>
  <p:sldIdLst>
    <p:sldId id="300" r:id="rId3"/>
    <p:sldId id="499" r:id="rId4"/>
    <p:sldId id="514" r:id="rId5"/>
    <p:sldId id="500" r:id="rId6"/>
    <p:sldId id="502" r:id="rId7"/>
    <p:sldId id="533" r:id="rId8"/>
    <p:sldId id="504" r:id="rId9"/>
    <p:sldId id="507" r:id="rId10"/>
    <p:sldId id="503" r:id="rId11"/>
    <p:sldId id="508" r:id="rId12"/>
    <p:sldId id="510" r:id="rId13"/>
    <p:sldId id="511" r:id="rId14"/>
    <p:sldId id="513" r:id="rId15"/>
    <p:sldId id="516" r:id="rId16"/>
    <p:sldId id="517" r:id="rId17"/>
    <p:sldId id="414" r:id="rId18"/>
    <p:sldId id="505" r:id="rId19"/>
    <p:sldId id="520" r:id="rId20"/>
    <p:sldId id="506" r:id="rId21"/>
    <p:sldId id="522" r:id="rId22"/>
    <p:sldId id="521" r:id="rId23"/>
    <p:sldId id="523" r:id="rId24"/>
    <p:sldId id="524" r:id="rId25"/>
    <p:sldId id="525" r:id="rId26"/>
    <p:sldId id="526" r:id="rId27"/>
    <p:sldId id="527" r:id="rId28"/>
    <p:sldId id="528" r:id="rId29"/>
    <p:sldId id="529" r:id="rId30"/>
    <p:sldId id="530" r:id="rId31"/>
    <p:sldId id="531" r:id="rId32"/>
    <p:sldId id="532" r:id="rId33"/>
    <p:sldId id="534" r:id="rId34"/>
    <p:sldId id="535" r:id="rId35"/>
    <p:sldId id="536" r:id="rId36"/>
    <p:sldId id="537" r:id="rId37"/>
    <p:sldId id="518" r:id="rId38"/>
    <p:sldId id="498" r:id="rId39"/>
    <p:sldId id="404" r:id="rId40"/>
    <p:sldId id="519" r:id="rId41"/>
    <p:sldId id="483" r:id="rId42"/>
    <p:sldId id="538" r:id="rId43"/>
    <p:sldId id="478" r:id="rId44"/>
    <p:sldId id="497" r:id="rId45"/>
    <p:sldId id="539" r:id="rId46"/>
    <p:sldId id="540" r:id="rId47"/>
    <p:sldId id="541" r:id="rId48"/>
    <p:sldId id="542" r:id="rId49"/>
    <p:sldId id="543" r:id="rId50"/>
    <p:sldId id="544" r:id="rId51"/>
    <p:sldId id="545" r:id="rId52"/>
    <p:sldId id="549" r:id="rId53"/>
    <p:sldId id="546" r:id="rId54"/>
    <p:sldId id="547" r:id="rId55"/>
    <p:sldId id="548" r:id="rId56"/>
    <p:sldId id="550" r:id="rId57"/>
    <p:sldId id="551" r:id="rId58"/>
    <p:sldId id="553" r:id="rId59"/>
    <p:sldId id="496" r:id="rId60"/>
  </p:sldIdLst>
  <p:sldSz cx="12192000" cy="6858000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4" pos="7310" userDrawn="1">
          <p15:clr>
            <a:srgbClr val="A4A3A4"/>
          </p15:clr>
        </p15:guide>
        <p15:guide id="5" orient="horz" pos="1003" userDrawn="1">
          <p15:clr>
            <a:srgbClr val="A4A3A4"/>
          </p15:clr>
        </p15:guide>
        <p15:guide id="6" pos="384" userDrawn="1">
          <p15:clr>
            <a:srgbClr val="A4A3A4"/>
          </p15:clr>
        </p15:guide>
        <p15:guide id="7" orient="horz" pos="39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150"/>
    <a:srgbClr val="006600"/>
    <a:srgbClr val="D6D6D6"/>
    <a:srgbClr val="FF9901"/>
    <a:srgbClr val="FF9900"/>
    <a:srgbClr val="05B050"/>
    <a:srgbClr val="928CFF"/>
    <a:srgbClr val="0066FF"/>
    <a:srgbClr val="0732EF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3F3D91-7DEB-4E82-ABDD-6D7DB7EBE192}" v="266" dt="2022-12-21T22:15:25.381"/>
    <p1510:client id="{B7086759-65AE-4857-8EC6-9EB847B97786}" v="1187" dt="2022-12-21T10:53:26.158"/>
    <p1510:client id="{E3E75DDE-9678-B74F-A860-46CD1ABEB370}" v="2907" dt="2022-12-22T06:45:20.8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03"/>
    <p:restoredTop sz="94617"/>
  </p:normalViewPr>
  <p:slideViewPr>
    <p:cSldViewPr snapToGrid="0" showGuides="1">
      <p:cViewPr>
        <p:scale>
          <a:sx n="149" d="100"/>
          <a:sy n="149" d="100"/>
        </p:scale>
        <p:origin x="616" y="-48"/>
      </p:cViewPr>
      <p:guideLst>
        <p:guide orient="horz" pos="2160"/>
        <p:guide pos="3840"/>
        <p:guide pos="7310"/>
        <p:guide orient="horz" pos="1003"/>
        <p:guide pos="384"/>
        <p:guide orient="horz" pos="390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5772"/>
    </p:cViewPr>
  </p:sorterViewPr>
  <p:notesViewPr>
    <p:cSldViewPr snapToGrid="0" showGuides="1">
      <p:cViewPr varScale="1">
        <p:scale>
          <a:sx n="66" d="100"/>
          <a:sy n="66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microsoft.com/office/2015/10/relationships/revisionInfo" Target="revisionInfo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C65CC615-A48C-B213-4338-677C794A041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397000" y="533400"/>
            <a:ext cx="447040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0"/>
              </a:spcBef>
              <a:defRPr sz="1700"/>
            </a:lvl1pPr>
          </a:lstStyle>
          <a:p>
            <a:r>
              <a:rPr lang="en-US" altLang="it-IT"/>
              <a:t>039-dht-06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58F471BD-BF47-4E30-2D57-B7C69E853F2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0"/>
              </a:spcBef>
              <a:defRPr sz="1300"/>
            </a:lvl1pPr>
          </a:lstStyle>
          <a:p>
            <a:fld id="{3F9CF192-ADC7-4FC1-B19F-17EF1AAC6161}" type="datetimeFigureOut">
              <a:rPr lang="en-US" altLang="it-IT"/>
              <a:pPr/>
              <a:t>2/25/25</a:t>
            </a:fld>
            <a:endParaRPr lang="en-US" altLang="it-IT"/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BCEBAD64-17E7-7B8B-7226-EC5F8DBBA7C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0"/>
              </a:spcBef>
              <a:defRPr sz="1300"/>
            </a:lvl1pPr>
          </a:lstStyle>
          <a:p>
            <a:endParaRPr lang="en-US" altLang="it-IT"/>
          </a:p>
        </p:txBody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B9BAEF20-81C0-0DD7-A8B5-277EAFA669D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44638" y="8640763"/>
            <a:ext cx="4549775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0"/>
              </a:spcBef>
              <a:defRPr sz="1700"/>
            </a:lvl1pPr>
          </a:lstStyle>
          <a:p>
            <a:fld id="{E3D32A34-E545-444B-97D2-A903681B9323}" type="slidenum">
              <a:rPr lang="en-US" altLang="it-IT"/>
              <a:pPr/>
              <a:t>‹#›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106F36B-539B-517C-2053-4D063C5BF55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0"/>
              </a:spcBef>
              <a:defRPr sz="1300"/>
            </a:lvl1pPr>
          </a:lstStyle>
          <a:p>
            <a:r>
              <a:rPr lang="en-US" altLang="it-IT"/>
              <a:t>039-dht-06537-dht-03.ppt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EF1A8C8-CF7F-6555-FD74-6F6734ECEC3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0"/>
              </a:spcBef>
              <a:defRPr sz="1300"/>
            </a:lvl1pPr>
          </a:lstStyle>
          <a:p>
            <a:fld id="{06979D8C-C40B-4750-9CD4-4E61283F77CC}" type="datetimeFigureOut">
              <a:rPr lang="en-US" altLang="it-IT"/>
              <a:pPr/>
              <a:t>2/25/25</a:t>
            </a:fld>
            <a:endParaRPr lang="en-US" altLang="it-IT"/>
          </a:p>
        </p:txBody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A6ACAAA5-E535-4F23-92B1-160167FE828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77472CD-F18E-CA2F-EC6C-F83EDD0C570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601FB2FD-B94C-7FDE-FD3C-53D746D7B00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0"/>
              </a:spcBef>
              <a:defRPr sz="1300"/>
            </a:lvl1pPr>
          </a:lstStyle>
          <a:p>
            <a:endParaRPr lang="en-US" altLang="it-IT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06AE1444-BF4A-158F-7306-4BD3950909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0"/>
              </a:spcBef>
              <a:defRPr sz="1300"/>
            </a:lvl1pPr>
          </a:lstStyle>
          <a:p>
            <a:fld id="{D83145EB-FB6E-4963-8A81-34F86828D003}" type="slidenum">
              <a:rPr lang="en-US" altLang="it-IT"/>
              <a:pPr/>
              <a:t>‹#›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468601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972A5-BD80-A8A7-9525-706304F15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3C80A5-202B-4FDE-DCAE-0F3E4341F2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90008C-CE5E-CDEA-08EB-103CE92264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11BF0E9-37E9-3EA6-AAF6-15B510442AE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2E54D4-EF9C-76BF-374E-3D02FD0925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3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158271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56364-CB08-EC19-AFED-23AC92608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FDB629-A98F-5874-A3DC-3B40D496C6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5E39DB-1600-F299-4A60-E7C59FE6BB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D23B18D-F4B1-07E0-28D5-91E9FF13549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0EC330-B1E1-111D-046C-92320FC28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600551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5DD9A-A190-6070-C54E-9A55E62E3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240711-81D6-BE74-CF80-D20A0195C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FC5D65-6BB8-FD76-5082-6C4BC1809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BFE1536-DE46-FF1E-109D-F7AD6E1674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3AA73D-45F5-6CD5-05A1-63EFE33B59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308111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7CC3C-0EBD-E509-1552-118EB96AA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CA1A6C-0C28-0A9D-C0AE-8FFEFB5D55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20A7EF-B59F-30DC-1475-7FB5DF35B8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131672F-5253-4D6B-B6A9-6BAE0AA8378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3F5CFE-D198-7963-189C-7978BE566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6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928647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AC16E-13AD-F837-BC18-A4B285195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81572E-98C1-9008-AE2F-495DF20E3C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F91BAB-55F1-2F74-CFCC-5713493639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13CEEAC-567D-659C-0A40-FBB190BF7CB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2EC968-5F7C-26D3-02B3-2D58FCCA91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7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36489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1696F-86CB-487D-0493-F0B724820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3BFD7D-6BBB-DF7C-5E42-4D33CDC74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EE8D00-EAF0-9127-AF1E-202BC79E4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A8B7E78-64E3-B900-44B0-0D80448C5E2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05731C-1570-5B9C-6DA8-CE00BDFFEE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8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7443025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F5084-0E4A-15C1-B079-6302022D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249FF6-16CE-A47F-9963-74C56DB5EE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096356-1942-1D75-9B76-1C4777097D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A60E7A4-99D9-3547-7100-AF8CA91EE42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9DEED-3FCA-6F20-55FD-17136665BA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9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5994624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C9C7B-E363-2C8B-DED6-D8BD83D33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DE5DA4-3C2C-BD33-09C4-E5B2B29CC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13A7F0-180B-F3C3-EE3D-6EB859741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3E97019-AE4F-34EC-9797-8B9558507E3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9C8CA1-DA13-B936-E85C-B71D552272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10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8688572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36A38-31B8-D24C-7830-D21FA0BA9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70D09E-0B53-B3D4-5B44-42AB92A61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107750-824B-F20A-5537-ABBCA38610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D8594D5-16C8-BBC0-3F7C-FE608F2F048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EC20FB-3F35-CC11-7118-490F0FCF6B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11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2621194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E4959-1958-D90E-035D-5D3C951C2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DA3AB2-99BF-63A3-8432-A881AEB04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AA8BA4-48DF-BFBF-C96C-B943811D98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8929638-78AF-04E6-7014-59FB535B414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7E9583-F3E3-93D3-8EEB-4626439EFA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12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788805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F5E16-5B2B-CE05-B771-1B193A8B3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FF175F-7C9E-9EB7-DFD6-86E224899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A5CDBE-8BB2-85E4-F664-FD2CD1EAD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78AE083-8040-3DFA-036F-222C67440ED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44CDB-6A4C-2658-9954-835359A589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13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4775841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BD40E-0DAE-082D-5416-AD64A58FF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21AEAC-667C-5DE6-0B1A-56DD13D2D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8259B7-A991-25B5-C7F0-82C613A4C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FEBC8BD-115B-5AE8-DF53-3D6750C4356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DA8D42-F691-E2F9-4A84-2C150F3773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14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5987639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B19AD-5BA1-06A9-BD88-AFE317DE7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619761-BAAE-FE12-86AC-5E77F32AED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2D5DAB-16CB-234C-4EA6-24433C857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A3EB956-2673-4B9F-BA82-25C5E4828CC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FC4403-1BB6-D35A-B9D9-1E0BAE4B10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15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9342622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6CC6F-6DEB-F1B9-C05D-9D8EB4811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A5E294-AAD0-3ABD-F7BD-751A2E411E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AC8ADC-998D-FE7A-AEC9-2AA02F8BF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754E284-999A-7875-7EE2-791811E5961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26B07-CFF5-C1CB-692A-3CBF188CD4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17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4445722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7F4FC-72E4-95EE-C88F-BC49F5C28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EF494D-E823-F90E-BD60-C13305888A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AE9D6F-AC9A-1C46-E92A-D9D55C4CA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6789977-983B-00CE-6FA1-0EA8CD7302E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D6C619-5AD1-86C1-2454-A6B19EAC6C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18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6408419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F798F-01E1-DB3F-3EB3-C8A85507A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071013-9357-D2E2-35C9-41F38F91B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890CFD-471D-034C-C90E-13ABBC07D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5467AC3-611F-7BC2-B74E-64F0E0B3E62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EE88AE-BA28-C450-762B-60A0CB0F3B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19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1168205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999B5-B5D4-3517-8143-0C024173D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BCE6C8-6A48-6D28-3CC7-9DB2426343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C8D779-CC2C-9AB2-D29D-7AA3950A4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9A72114-D6C3-57AA-F954-CA47A9B7695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9ED143-BEE7-9CD1-CD1B-77ADB8A1CB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20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5683990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F17DC-D32B-B18F-C1A6-1F4251100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103CE6-ECDE-02BC-1B0E-F6B33A0A1D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B121AC-2784-3D98-D27E-0C02736B1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D45EC79-5C7D-D323-FE9A-4BF53BAEC84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DC6A9A-FA36-CA06-CF08-A6B7DCD1F0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21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6913704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CC231-9C5E-5F62-AA3D-AF87BD5C1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CFB42C-F99E-0C78-8425-6D587B26AD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020FB4-DF1F-DD93-761D-BC53876A2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F7A4672-BBA0-2225-D327-F98360E2E2B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82CC57-AD66-5F70-6BE4-CF30348C29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22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8548956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1651C-CD31-3E76-DE3A-46A31F4D6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334BFF-EC15-EA91-4F56-8EC64057C8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4D741E-1191-9A03-3EEE-58FA3E6CD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9644D49-4010-7BE3-2DAF-3443997C513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A880CE-80F3-9F5A-8899-7784549212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23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5585148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69FE0-C572-EF65-80DF-3325FF6E5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DFDCA6-0A24-176A-5F7E-AEA6C89060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ABE1F4-B4AA-4169-78E2-B1F2A31DD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A645793-0217-52A4-9846-4F69BCEDC17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84DB0-1031-5727-A793-73D538AC9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24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41051732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9EC27-345B-46BD-76FA-771CD4F9A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98AA5-3737-F1D3-9531-95C51CB36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A2D16D-7D38-35CB-BD6B-AF59CCCE7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7B0E149-DA00-9848-9881-DECCB22C34C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6E5376-E675-DEED-EA4F-1F76418BCA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25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40250750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66F1D-765D-5480-5F23-6DF22B29B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D52262-C538-B4F7-5173-386BC0AB6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EA5F01-47BC-2B29-248A-6FAE4A3A8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1241ED1-0197-77A1-06E6-200E6B849A8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062D63-9291-5888-4306-1ED61712D4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26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3251874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B987A-326C-1ECE-258D-C7D75A80C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DBCEA4-8B4C-2151-4892-29C951091F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5715C6-006F-2CDD-F3AB-63D1A783A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47E0966-802C-A656-32A1-AF251C26E38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65E59-F6E2-1CC5-8D80-6F1A455E68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27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6424730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60722-8401-09A0-24C0-0569A8ACD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E022B2-6947-FB7E-8F60-A1F98237D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E3F939-D7D7-BA3F-7BC4-FE7518114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4597149-7831-A54C-70B4-4D8ABABDB4C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4A437-3261-A74A-1150-1E4D95DFD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28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2494821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D99D9-FDE6-8ABE-24D6-47FC7D50C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BE0550-0A72-2065-1184-557B7E1B0D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64CDE4-E491-7D02-B48E-655E6D9CF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1A8168C-A2EA-F08F-18DE-E133B3C3625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CA37C3-7A87-47AB-B1B2-6239FBE7DF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29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5817552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34425-DA78-2FA5-7916-7B15A1CF7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5298D0-B104-D568-33D2-AE540DD66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752B6E-251C-645F-6AF9-D1AF4464A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CEE2ACF-E26F-1AC0-15E2-BC9BE339F89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210C0-EBB0-E5A4-9D83-5B7BA838A1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30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9945470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F3CF0-8EC8-C5D2-122C-F5A9AD0BC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0A2710-2806-2CAE-5051-5A56712C38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4FE379-A349-36F7-2E89-6795E0946B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DC95490-2F29-9857-C3E2-A0F761EABAB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E6C00A-E00A-EF3D-475C-0766562D8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31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0030827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2F120-8446-0443-DD29-CC80A6306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7F43F3-6CED-7AE8-31AA-C945A98D21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D94B5A-60CE-2647-54F7-22FA52B97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06A6877-C202-0E44-B1A4-C5F503BBF5E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C09F0C-25EF-8F2E-4B9D-C83DC7C3E4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32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2611208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D1108-9AE6-6D8B-F177-138FD3262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DDB7E8-7244-2512-3F33-4E58172187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7700DE-2D07-8074-9A99-42BCAD2AF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A7F9D05-37EB-C597-609A-4862D7B8332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4C8A99-4DD1-2DAC-8B27-F2D1930B0B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33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0391190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85B17-5EF6-45DE-37E8-F59AB6A2A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A98389-B06E-FB59-F35D-C1E65076E6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52B5ED-DEA7-8D75-35E8-D092127B21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D62DAAB-2DC1-DF03-7EFA-9C1D0BD7625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BCA0F2-20A7-5026-664D-82C06E682C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34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4797851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FF19E-EA80-9CEF-473C-539FAB2F5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14A8B5-B149-9FED-F5E0-90548FFEAF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723196-E694-D06A-405F-236516A69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CD7B77C-C29C-A40B-A17E-4E3E5C68B02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054AF5-EE43-29DE-3F83-F8967B9383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35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4281058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BCDF8-F5A2-195C-1082-9BEC4086B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1DB941-A3EA-6E7B-85CB-7A97B2771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5C24B5-8E07-7EF5-0E1B-492737FFA0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7227C86-64B1-3B72-3C37-A684FA6AA7E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2D5940-EC04-C66C-31BD-BA041DDB84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39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2021676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F30FE-F508-6E82-991A-541F87478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40E106-C255-4DB4-5980-D7EDE6CEE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DA5942-917B-C507-85D2-07D707169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4D36C24-7F3D-110D-81E9-BE961F3440A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4CED7E-A17D-070D-4CDE-B3BE9E8BD5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41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0478370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D480A-A447-0F3B-8CBE-196257B50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38D08E-64C9-6F95-A4C1-61AC76AFF0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09157E-1C4E-F1AD-7A89-4255D2CA4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4FCA177-A732-E11F-0F78-1A2DCDA1DAD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274D77-DE50-2229-2235-E0C8086621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42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97091581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59F6E-8357-B114-9151-239847920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2840FC-9D8D-2467-6677-62201A7A7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4237A1-DA99-452C-78AB-9B279B729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47E07DD-8141-6EC1-DFF2-3786188949B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F9A2-5B96-5973-93B1-0A951793A2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43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12124163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E5109-630B-7FF4-54A6-4465446C4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64E461-BF3D-4A80-880A-05B7586B6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B5F933-360E-C526-90D2-911958657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3738C7D-59A6-0BFA-2252-422B1A7F596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6D4C-9CC1-D1AB-67C3-3E6B8835A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44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400371778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DD921-29F9-8A36-6C98-6DE651675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83C85D-AEBC-0710-F2F9-C5D86E4D1F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9B5E93-5B9E-445C-AB98-97BCEBB24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A20261E-577C-6BAE-7729-E24E27BAC45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5A575B-CAC5-0292-E57C-27EBD1B734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45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47587029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722EC-811C-5B57-352A-B93CAE22D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B9FE6-37F7-6885-00A3-D43B374F27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7FEDED-C8DF-0ED0-5FB8-23E3F3B43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7725B59-8254-5388-6EC2-8F4DC25F785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CE9B88-5DF7-5DC6-6ACB-026C0A53B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46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94262454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A2307-4EC3-ABCE-A1CD-04E96FEF7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CFC5C8-ECF6-09D4-7C5C-0FD826A1E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9F2E66-CAC7-40F3-0AF1-9E85E821A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8A3A93B-EE35-5F1A-8D17-B3FEDF1F079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6B1BB0-4D23-86C9-8614-F1FA5B02DB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47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56811645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24183-3BF6-FE6E-B667-0D02E657A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3873C6-95F3-FACF-92EA-C8EB41E93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FC4E57-4B8C-8C2C-6569-5C6B0338F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590F1CA-A0E8-C20C-6FBB-31DF1E48EC6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428BD4-6BE0-A8DC-DCEA-C6BEB9C2E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48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47009840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EFB4D-D450-2B6A-BCA6-07798E141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64BCE0-977B-E4DE-ED6E-EDA7F79B1F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60F3BE-9C62-ACB6-AB11-BC1F54DC9F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8A21E18-DEA4-445D-D310-09ECA7EBA4D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546ED3-6274-B2E1-FCCE-58AF6FA5C4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49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5543463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76059-1617-764F-524A-D34338CA3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8B0F2D-D387-3FA6-4A72-69039BBD6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F9845A-2465-47EE-9578-FD1B6C0AD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D39C0E9-6123-C754-2661-87F99DEC4CD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812BE4-39E4-5324-C11F-2A22457565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50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426841396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6E46E-D7BF-5D1A-4864-2CF04B9FA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056E99-4FFE-6F79-77B2-51EAC3A0C9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E5D717-D641-916F-DFA6-95E1B3FEA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2ACE4B6-7807-D02B-56D8-204175D863A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ED71F6-624B-6D7D-285E-B1823C56D1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51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46085923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1792A-D72D-8E65-0749-2E9F545B1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278C62-86FD-C351-F87D-DDDBA0DF71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C220AA-3700-1A60-C343-AB61E1C579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250FFE5-5CF6-BBA2-E083-63DC9B2B1C4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70F54F-23DE-CF62-03D1-DD0DAAB006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52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416682960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97883-ACE6-946C-CD93-DD1881C2A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46A99E-D300-8289-C1F5-933A7B7B3E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6E9940-503A-15D0-04C4-5B94927AB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BBFF63A-D5C7-2953-B9E0-A56E6FCF70E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C3A4C-2600-2904-50CA-DC21A24277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53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9373683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F91C0-9DCF-530D-F90E-9414DB92F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0C91CC-CA71-733E-7319-A8C0323995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26DFC8-DAB7-079B-BCFD-332D5F9F2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C6D7F4B-4E06-3B4D-A5E6-4A263D2B82D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6955F-F3B2-7FA2-F298-6186DD5638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54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47685529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5A6F9-F5DE-C72A-E032-B22FBC829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98643D-E566-AC7F-26C6-443B42ACBE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2497B3-5E0C-AFE3-D136-472E3DD43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0860CF1-84F3-1F98-94EF-52D8F812F1C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4CB977-C4CA-24C0-654C-96B27773FE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55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6667737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B4506-0D23-2A77-567D-79C70EA71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227C0F-1698-6777-E735-0DD5C862B3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174149-2679-59AB-F948-E02B22F92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5339912-A008-2670-B2A6-7735C37BF1F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909CF4-A65D-33CA-6627-8904FB19AF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56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20758022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C2C1F-2D0C-94B2-2237-49A6212E1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F0E4C0-D80C-F474-4F7E-0EF7F87964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F67BF1-9572-0BBD-04DA-84A465440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BAD0023-FB46-1242-A8CF-E315E777A68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59ED65-569E-5367-A8BF-69F0ADCB1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57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0598996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7715C-2E21-AF5B-F85B-70091D589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4EFFBD-D6FB-8EA0-D281-5114FB12F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3133A-72F0-06AA-6555-E1D3D2836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288DBEB-377E-BA7E-7440-4329A857339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CDB81-B829-AE24-03D0-FA1255AEA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58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926070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 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9F79B3-FA6A-4D4C-8B22-54EE57D9F4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576" y="322974"/>
            <a:ext cx="2376264" cy="1219692"/>
          </a:xfrm>
          <a:prstGeom prst="rect">
            <a:avLst/>
          </a:prstGeom>
        </p:spPr>
      </p:pic>
      <p:sp>
        <p:nvSpPr>
          <p:cNvPr id="5" name="Text Box 5">
            <a:extLst>
              <a:ext uri="{FF2B5EF4-FFF2-40B4-BE49-F238E27FC236}">
                <a16:creationId xmlns:a16="http://schemas.microsoft.com/office/drawing/2014/main" id="{F48521B5-EF4B-4AA9-A186-D237E00EB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3872" y="332656"/>
            <a:ext cx="512140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it-IT" sz="2400" err="1">
                <a:latin typeface="Tahoma" panose="020B0604030504040204" pitchFamily="34" charset="0"/>
              </a:rPr>
              <a:t>Università</a:t>
            </a:r>
            <a:r>
              <a:rPr lang="en-US" altLang="it-IT" sz="2400">
                <a:latin typeface="Tahoma" panose="020B0604030504040204" pitchFamily="34" charset="0"/>
              </a:rPr>
              <a:t> </a:t>
            </a:r>
            <a:r>
              <a:rPr lang="en-US" altLang="it-IT" sz="2400" err="1">
                <a:latin typeface="Tahoma" panose="020B0604030504040204" pitchFamily="34" charset="0"/>
              </a:rPr>
              <a:t>degli</a:t>
            </a:r>
            <a:r>
              <a:rPr lang="en-US" altLang="it-IT" sz="2400">
                <a:latin typeface="Tahoma" panose="020B0604030504040204" pitchFamily="34" charset="0"/>
              </a:rPr>
              <a:t> </a:t>
            </a:r>
            <a:r>
              <a:rPr lang="en-US" altLang="it-IT" sz="2400" err="1">
                <a:latin typeface="Tahoma" panose="020B0604030504040204" pitchFamily="34" charset="0"/>
              </a:rPr>
              <a:t>Studi</a:t>
            </a:r>
            <a:r>
              <a:rPr lang="en-US" altLang="it-IT" sz="2400">
                <a:latin typeface="Tahoma" panose="020B0604030504040204" pitchFamily="34" charset="0"/>
              </a:rPr>
              <a:t> Roma Tre</a:t>
            </a:r>
          </a:p>
          <a:p>
            <a:pPr eaLnBrk="1" hangingPunct="1"/>
            <a:r>
              <a:rPr lang="en-US" altLang="it-IT" sz="2400" err="1">
                <a:latin typeface="Tahoma" panose="020B0604030504040204" pitchFamily="34" charset="0"/>
              </a:rPr>
              <a:t>Dipartimento</a:t>
            </a:r>
            <a:r>
              <a:rPr lang="en-US" altLang="it-IT" sz="2400">
                <a:latin typeface="Tahoma" panose="020B0604030504040204" pitchFamily="34" charset="0"/>
              </a:rPr>
              <a:t> di </a:t>
            </a:r>
            <a:r>
              <a:rPr lang="en-US" altLang="it-IT" sz="2400" err="1">
                <a:latin typeface="Tahoma" panose="020B0604030504040204" pitchFamily="34" charset="0"/>
              </a:rPr>
              <a:t>Ingegneria</a:t>
            </a:r>
            <a:endParaRPr lang="en-US" altLang="it-IT" sz="2400">
              <a:latin typeface="Tahoma" panose="020B0604030504040204" pitchFamily="34" charset="0"/>
            </a:endParaRPr>
          </a:p>
          <a:p>
            <a:pPr eaLnBrk="1" hangingPunct="1"/>
            <a:r>
              <a:rPr lang="en-US" altLang="it-IT" sz="2400">
                <a:latin typeface="Tahoma" panose="020B0604030504040204" pitchFamily="34" charset="0"/>
              </a:rPr>
              <a:t>Computer Networks Research Group</a:t>
            </a:r>
            <a:endParaRPr lang="en-US" altLang="it-IT" sz="2400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3041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988840"/>
            <a:ext cx="10363200" cy="866775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041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2996952"/>
            <a:ext cx="8534400" cy="6953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/>
            </a:lvl1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293013-B607-C3C4-39CB-6F82F1B7A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854604-3C50-BE7A-3DA2-690917929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64174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yrigh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9400-AFF6-4FC9-8E2F-F363C6F66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/>
              <a:t>copyright </a:t>
            </a:r>
            <a:r>
              <a:rPr lang="it-IT" altLang="it-IT" err="1"/>
              <a:t>notice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95E1F6-EE88-4027-874C-C2A60CB40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4B42B5-5FDC-4B42-887A-B68A97D00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9C412A2-966A-4BF2-921A-CFBA729795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</p:spPr>
        <p:txBody>
          <a:bodyPr/>
          <a:lstStyle/>
          <a:p>
            <a:pPr lvl="0" eaLnBrk="1" hangingPunct="1">
              <a:lnSpc>
                <a:spcPct val="80000"/>
              </a:lnSpc>
            </a:pPr>
            <a:r>
              <a:rPr lang="en-US" altLang="it-IT" sz="1800"/>
              <a:t>Click to edit Master text styles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it-IT" sz="1800"/>
              <a:t>Second level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it-IT" sz="1800"/>
              <a:t>Third level</a:t>
            </a:r>
          </a:p>
          <a:p>
            <a:pPr lvl="3" eaLnBrk="1" hangingPunct="1">
              <a:lnSpc>
                <a:spcPct val="80000"/>
              </a:lnSpc>
            </a:pPr>
            <a:r>
              <a:rPr lang="en-US" altLang="it-IT" sz="1800"/>
              <a:t>Fourth level</a:t>
            </a:r>
          </a:p>
          <a:p>
            <a:pPr lvl="4" eaLnBrk="1" hangingPunct="1">
              <a:lnSpc>
                <a:spcPct val="80000"/>
              </a:lnSpc>
            </a:pPr>
            <a:r>
              <a:rPr lang="en-US" altLang="it-IT" sz="1800"/>
              <a:t>Fifth level</a:t>
            </a:r>
            <a:endParaRPr lang="it-IT" altLang="it-IT" sz="1800"/>
          </a:p>
        </p:txBody>
      </p:sp>
    </p:spTree>
    <p:extLst>
      <p:ext uri="{BB962C8B-B14F-4D97-AF65-F5344CB8AC3E}">
        <p14:creationId xmlns:p14="http://schemas.microsoft.com/office/powerpoint/2010/main" val="3719126147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2C402-67A5-4652-B395-80C3CFCC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2A33B8-9C12-4DD4-B7A2-462DBDF9F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054AC4-794D-4989-9E00-3CA5380BB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BE93C49-2746-445A-8FEE-BFD8EDF009A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28800" y="3645024"/>
            <a:ext cx="8534400" cy="6953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9543932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1B5F34A-3762-4DC4-8521-3CCFBDBBB5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D2D072-E423-4081-B786-4B5AABE6E9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496843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9261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89786" y="1600203"/>
            <a:ext cx="539261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D3FD9D-035D-4317-87B9-2E07DC513C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56CC62-4927-46CE-8071-12D4280A82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745710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7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75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694" y="1535113"/>
            <a:ext cx="538870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694" y="2174875"/>
            <a:ext cx="538870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62FD7C9-33FA-4567-92E1-5709B74F7B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2/25/25</a:t>
            </a:fld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B5C0F4D-D9F2-43D0-AB84-9597AD32B0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37464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9E61840-3800-42E1-8104-908EC2290A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2/25/25</a:t>
            </a:fld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BDBC235-FCC8-44F7-AF2D-D19BB003DF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16043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210B621-DDDB-4969-8052-9E481273EF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2/25/25</a:t>
            </a:fld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F427022-EF7C-4DDD-9245-E8A971AB8D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680368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24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7386" y="273053"/>
            <a:ext cx="681501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1" y="1435103"/>
            <a:ext cx="401124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9" indent="0">
              <a:buNone/>
              <a:defRPr sz="900"/>
            </a:lvl7pPr>
            <a:lvl8pPr marL="3200480" indent="0">
              <a:buNone/>
              <a:defRPr sz="900"/>
            </a:lvl8pPr>
            <a:lvl9pPr marL="3657691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B7462A-E94B-4E5C-AF83-8E8FA72FC5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A9AC3-825F-4AAC-8B76-9EC322D8AC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24235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12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9" indent="0">
              <a:buNone/>
              <a:defRPr sz="900"/>
            </a:lvl7pPr>
            <a:lvl8pPr marL="3200480" indent="0">
              <a:buNone/>
              <a:defRPr sz="900"/>
            </a:lvl8pPr>
            <a:lvl9pPr marL="3657691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58AB6D-2A9D-4F16-A910-0B79968AB2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098BE-69C9-4538-89C8-C00B289910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87570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486F16B-0B58-45B6-9061-CA60B6CB76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754CCF-D619-4891-8E0C-E8A44AB624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913316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4203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6ABEC1F-57AF-4AF1-B41E-3F8C581060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C44205-C96E-4D3D-B0E4-CEBDE5B2D6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413946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 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988840"/>
            <a:ext cx="10363200" cy="866775"/>
          </a:xfrm>
        </p:spPr>
        <p:txBody>
          <a:bodyPr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it-IT" dirty="0"/>
          </a:p>
        </p:txBody>
      </p:sp>
      <p:sp>
        <p:nvSpPr>
          <p:cNvPr id="3041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2996952"/>
            <a:ext cx="8534400" cy="6953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/>
            </a:lvl1pPr>
          </a:lstStyle>
          <a:p>
            <a:r>
              <a:rPr lang="en-GB"/>
              <a:t>Click to edit Master subtitle style</a:t>
            </a:r>
            <a:endParaRPr lang="it-IT" dirty="0"/>
          </a:p>
        </p:txBody>
      </p:sp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B150B1F-FA08-F63A-3429-F7F8A760DB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88" y="150788"/>
            <a:ext cx="4234565" cy="94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735145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yrigh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9400-AFF6-4FC9-8E2F-F363C6F66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 dirty="0"/>
              <a:t>copyright </a:t>
            </a:r>
            <a:r>
              <a:rPr lang="it-IT" altLang="it-IT" dirty="0" err="1"/>
              <a:t>notice</a:t>
            </a:r>
            <a:endParaRPr lang="it-IT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95E1F6-EE88-4027-874C-C2A60CB40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4B42B5-5FDC-4B42-887A-B68A97D00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9C412A2-966A-4BF2-921A-CFBA729795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12876"/>
            <a:ext cx="10972800" cy="4713288"/>
          </a:xfrm>
        </p:spPr>
        <p:txBody>
          <a:bodyPr/>
          <a:lstStyle/>
          <a:p>
            <a:pPr lvl="0" eaLnBrk="1" hangingPunct="1">
              <a:lnSpc>
                <a:spcPct val="80000"/>
              </a:lnSpc>
            </a:pPr>
            <a:r>
              <a:rPr lang="en-GB" altLang="it-IT" sz="1800"/>
              <a:t>Click to edit Master text styles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it-IT" sz="1800"/>
              <a:t>Second level</a:t>
            </a:r>
          </a:p>
          <a:p>
            <a:pPr lvl="2" eaLnBrk="1" hangingPunct="1">
              <a:lnSpc>
                <a:spcPct val="80000"/>
              </a:lnSpc>
            </a:pPr>
            <a:r>
              <a:rPr lang="en-GB" altLang="it-IT" sz="1800"/>
              <a:t>Third level</a:t>
            </a:r>
          </a:p>
          <a:p>
            <a:pPr lvl="3" eaLnBrk="1" hangingPunct="1">
              <a:lnSpc>
                <a:spcPct val="80000"/>
              </a:lnSpc>
            </a:pPr>
            <a:r>
              <a:rPr lang="en-GB" altLang="it-IT" sz="1800"/>
              <a:t>Fourth level</a:t>
            </a:r>
          </a:p>
          <a:p>
            <a:pPr lvl="4" eaLnBrk="1" hangingPunct="1">
              <a:lnSpc>
                <a:spcPct val="80000"/>
              </a:lnSpc>
            </a:pPr>
            <a:r>
              <a:rPr lang="en-GB" altLang="it-IT" sz="1800"/>
              <a:t>Fifth level</a:t>
            </a:r>
            <a:endParaRPr lang="it-IT" altLang="it-IT" sz="1800" dirty="0"/>
          </a:p>
        </p:txBody>
      </p:sp>
    </p:spTree>
    <p:extLst>
      <p:ext uri="{BB962C8B-B14F-4D97-AF65-F5344CB8AC3E}">
        <p14:creationId xmlns:p14="http://schemas.microsoft.com/office/powerpoint/2010/main" val="1862495531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2C402-67A5-4652-B395-80C3CFCC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0"/>
            <a:ext cx="109728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it-IT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2A33B8-9C12-4DD4-B7A2-462DBDF9F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054AC4-794D-4989-9E00-3CA5380BB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BE93C49-2746-445A-8FEE-BFD8EDF009A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28800" y="3645024"/>
            <a:ext cx="8534400" cy="6953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52703353"/>
      </p:ext>
    </p:extLst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1B5F34A-3762-4DC4-8521-3CCFBDBBB5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D2D072-E423-4081-B786-4B5AABE6E9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469949"/>
      </p:ext>
    </p:extLst>
  </p:cSld>
  <p:clrMapOvr>
    <a:masterClrMapping/>
  </p:clrMapOvr>
  <p:hf sldNum="0"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412875"/>
            <a:ext cx="5392615" cy="47132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89786" y="1412875"/>
            <a:ext cx="5392615" cy="47132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D3FD9D-035D-4317-87B9-2E07DC513C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2/25/25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56CC62-4927-46CE-8071-12D4280A82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859030"/>
      </p:ext>
    </p:extLst>
  </p:cSld>
  <p:clrMapOvr>
    <a:masterClrMapping/>
  </p:clrMapOvr>
  <p:hf sldNum="0"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9E61840-3800-42E1-8104-908EC2290A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2/25/25</a:t>
            </a:fld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BDBC235-FCC8-44F7-AF2D-D19BB003DF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406950"/>
      </p:ext>
    </p:extLst>
  </p:cSld>
  <p:clrMapOvr>
    <a:masterClrMapping/>
  </p:clrMapOvr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210B621-DDDB-4969-8052-9E481273EF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2/25/25</a:t>
            </a:fld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F427022-EF7C-4DDD-9245-E8A971AB8D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692256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24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7386" y="273053"/>
            <a:ext cx="681501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1" y="1435103"/>
            <a:ext cx="401124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9" indent="0">
              <a:buNone/>
              <a:defRPr sz="900"/>
            </a:lvl7pPr>
            <a:lvl8pPr marL="3200480" indent="0">
              <a:buNone/>
              <a:defRPr sz="900"/>
            </a:lvl8pPr>
            <a:lvl9pPr marL="3657691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B7462A-E94B-4E5C-AF83-8E8FA72FC5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2/25/25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CA9AC3-825F-4AAC-8B76-9EC322D8AC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47320"/>
      </p:ext>
    </p:extLst>
  </p:cSld>
  <p:clrMapOvr>
    <a:masterClrMapping/>
  </p:clrMapOvr>
  <p:hf sldNum="0"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12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pPr lvl="0"/>
            <a:r>
              <a:rPr lang="en-GB" noProof="0"/>
              <a:t>Click icon to add picture</a:t>
            </a:r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9" indent="0">
              <a:buNone/>
              <a:defRPr sz="900"/>
            </a:lvl7pPr>
            <a:lvl8pPr marL="3200480" indent="0">
              <a:buNone/>
              <a:defRPr sz="900"/>
            </a:lvl8pPr>
            <a:lvl9pPr marL="3657691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58AB6D-2A9D-4F16-A910-0B79968AB2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2/25/25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A098BE-69C9-4538-89C8-C00B289910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314979"/>
      </p:ext>
    </p:extLst>
  </p:cSld>
  <p:clrMapOvr>
    <a:masterClrMapping/>
  </p:clrMapOvr>
  <p:hf sldNum="0"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486F16B-0B58-45B6-9061-CA60B6CB76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754CCF-D619-4891-8E0C-E8A44AB624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309837"/>
      </p:ext>
    </p:extLst>
  </p:cSld>
  <p:clrMapOvr>
    <a:masterClrMapping/>
  </p:clrMapOvr>
  <p:hf sldNum="0"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42031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6ABEC1F-57AF-4AF1-B41E-3F8C581060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C44205-C96E-4D3D-B0E4-CEBDE5B2D6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173280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44DAC59-5E6E-45D0-8524-3E061722C9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F11B519-1465-43CA-9B06-0B1C84B88C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3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303108" name="Rectangle 4">
            <a:extLst>
              <a:ext uri="{FF2B5EF4-FFF2-40B4-BE49-F238E27FC236}">
                <a16:creationId xmlns:a16="http://schemas.microsoft.com/office/drawing/2014/main" id="{9F6A8ACC-B973-483A-9EBB-30DD75AA7EB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265138" y="6453191"/>
            <a:ext cx="2782277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dirty="0">
                <a:latin typeface="+mn-lt"/>
              </a:defRPr>
            </a:lvl1pPr>
          </a:lstStyle>
          <a:p>
            <a:fld id="{C764DE79-268F-4C1A-8933-263129D2AF90}" type="datetimeFigureOut">
              <a:rPr lang="en-US" smtClean="0"/>
              <a:t>2/25/25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356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5pPr>
      <a:lvl6pPr marL="457212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6pPr>
      <a:lvl7pPr marL="914423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7pPr>
      <a:lvl8pPr marL="1371634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8pPr>
      <a:lvl9pPr marL="1828846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9pPr>
    </p:titleStyle>
    <p:bodyStyle>
      <a:lvl1pPr marL="342908" indent="-34290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69" indent="-28575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28" indent="-228606" algn="l" rtl="0" eaLnBrk="1" fontAlgn="base" hangingPunct="1">
        <a:spcBef>
          <a:spcPct val="20000"/>
        </a:spcBef>
        <a:spcAft>
          <a:spcPct val="0"/>
        </a:spcAft>
        <a:buClr>
          <a:srgbClr val="66CC00"/>
        </a:buClr>
        <a:buSzPct val="7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40" indent="-228606" algn="l" rtl="0" eaLnBrk="1" fontAlgn="base" hangingPunct="1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52" indent="-228606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5pPr>
      <a:lvl6pPr marL="2514663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6pPr>
      <a:lvl7pPr marL="2971874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7pPr>
      <a:lvl8pPr marL="3429086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8pPr>
      <a:lvl9pPr marL="3886297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44DAC59-5E6E-45D0-8524-3E061722C9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16632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/>
              <a:t>Fare clic per modificare lo stile del titolo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F11B519-1465-43CA-9B06-0B1C84B88C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12777"/>
            <a:ext cx="10972800" cy="4713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/>
              <a:t>Fare clic per modificare gli stili del testo dello schema</a:t>
            </a:r>
          </a:p>
          <a:p>
            <a:pPr lvl="1"/>
            <a:r>
              <a:rPr lang="it-IT" altLang="it-IT" dirty="0"/>
              <a:t>Secondo livello</a:t>
            </a:r>
          </a:p>
          <a:p>
            <a:pPr lvl="2"/>
            <a:r>
              <a:rPr lang="it-IT" altLang="it-IT" dirty="0"/>
              <a:t>Terzo livello</a:t>
            </a:r>
          </a:p>
          <a:p>
            <a:pPr lvl="3"/>
            <a:r>
              <a:rPr lang="it-IT" altLang="it-IT" dirty="0"/>
              <a:t>Quarto livello</a:t>
            </a:r>
          </a:p>
          <a:p>
            <a:pPr lvl="4"/>
            <a:r>
              <a:rPr lang="it-IT" altLang="it-IT" dirty="0"/>
              <a:t>Quinto livello</a:t>
            </a:r>
          </a:p>
        </p:txBody>
      </p:sp>
      <p:sp>
        <p:nvSpPr>
          <p:cNvPr id="303108" name="Rectangle 4">
            <a:extLst>
              <a:ext uri="{FF2B5EF4-FFF2-40B4-BE49-F238E27FC236}">
                <a16:creationId xmlns:a16="http://schemas.microsoft.com/office/drawing/2014/main" id="{9F6A8ACC-B973-483A-9EBB-30DD75AA7EB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265138" y="6453191"/>
            <a:ext cx="2782277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dirty="0">
                <a:latin typeface="+mn-lt"/>
              </a:defRPr>
            </a:lvl1pPr>
          </a:lstStyle>
          <a:p>
            <a:fld id="{C764DE79-268F-4C1A-8933-263129D2AF90}" type="datetimeFigureOut">
              <a:rPr lang="en-US" smtClean="0"/>
              <a:t>2/25/25</a:t>
            </a:fld>
            <a:endParaRPr lang="en-US"/>
          </a:p>
        </p:txBody>
      </p:sp>
      <p:sp>
        <p:nvSpPr>
          <p:cNvPr id="303109" name="Rectangle 5">
            <a:extLst>
              <a:ext uri="{FF2B5EF4-FFF2-40B4-BE49-F238E27FC236}">
                <a16:creationId xmlns:a16="http://schemas.microsoft.com/office/drawing/2014/main" id="{6276769E-8AF7-4AB3-B25A-CA8C5C6A001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0295" y="6453191"/>
            <a:ext cx="595141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dirty="0" err="1">
                <a:latin typeface="+mn-lt"/>
              </a:defRPr>
            </a:lvl1pPr>
          </a:lstStyle>
          <a:p>
            <a:pPr>
              <a:defRPr/>
            </a:pPr>
            <a:r>
              <a:rPr lang="it-IT"/>
              <a:t>Footer</a:t>
            </a:r>
            <a:endParaRPr lang="it-IT" dirty="0"/>
          </a:p>
        </p:txBody>
      </p:sp>
      <p:pic>
        <p:nvPicPr>
          <p:cNvPr id="3" name="Picture 2" descr="A group of cubes with different colors&#10;&#10;Description automatically generated">
            <a:extLst>
              <a:ext uri="{FF2B5EF4-FFF2-40B4-BE49-F238E27FC236}">
                <a16:creationId xmlns:a16="http://schemas.microsoft.com/office/drawing/2014/main" id="{04BC26E2-2780-755F-DAB8-E568CC768E7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58" y="200174"/>
            <a:ext cx="1264030" cy="85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044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5pPr>
      <a:lvl6pPr marL="457212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6pPr>
      <a:lvl7pPr marL="914423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7pPr>
      <a:lvl8pPr marL="1371634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8pPr>
      <a:lvl9pPr marL="1828846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9pPr>
    </p:titleStyle>
    <p:bodyStyle>
      <a:lvl1pPr marL="342908" indent="-34290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69" indent="-28575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28" indent="-228606" algn="l" rtl="0" eaLnBrk="1" fontAlgn="base" hangingPunct="1">
        <a:spcBef>
          <a:spcPct val="20000"/>
        </a:spcBef>
        <a:spcAft>
          <a:spcPct val="0"/>
        </a:spcAft>
        <a:buClr>
          <a:srgbClr val="66CC00"/>
        </a:buClr>
        <a:buSzPct val="7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40" indent="-228606" algn="l" rtl="0" eaLnBrk="1" fontAlgn="base" hangingPunct="1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52" indent="-228606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5pPr>
      <a:lvl6pPr marL="2514663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6pPr>
      <a:lvl7pPr marL="2971874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7pPr>
      <a:lvl8pPr marL="3429086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8pPr>
      <a:lvl9pPr marL="3886297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>
            <a:extLst>
              <a:ext uri="{FF2B5EF4-FFF2-40B4-BE49-F238E27FC236}">
                <a16:creationId xmlns:a16="http://schemas.microsoft.com/office/drawing/2014/main" id="{90B38D1E-4B67-FAB1-116F-56C58C1F2B6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1901058"/>
            <a:ext cx="10363200" cy="3055883"/>
          </a:xfrm>
        </p:spPr>
        <p:txBody>
          <a:bodyPr/>
          <a:lstStyle/>
          <a:p>
            <a:pPr eaLnBrk="1" hangingPunct="1"/>
            <a:r>
              <a:rPr lang="it-IT" altLang="it-IT" sz="5400" dirty="0"/>
              <a:t>IK2227 – Lab 4:</a:t>
            </a:r>
            <a:br>
              <a:rPr lang="it-IT" altLang="it-IT" sz="5400" dirty="0"/>
            </a:br>
            <a:r>
              <a:rPr lang="it-IT" altLang="it-IT" dirty="0"/>
              <a:t>RDMA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8333FE-DFB9-13E1-2670-832957232C0C}"/>
              </a:ext>
            </a:extLst>
          </p:cNvPr>
          <p:cNvSpPr txBox="1"/>
          <p:nvPr/>
        </p:nvSpPr>
        <p:spPr>
          <a:xfrm>
            <a:off x="4515439" y="5570483"/>
            <a:ext cx="3161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Slides by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M.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Scazzariello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9DC04-95E5-0E1F-768E-D5697CAB2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recap on </a:t>
            </a:r>
            <a:r>
              <a:rPr lang="en-US" noProof="0" dirty="0" err="1"/>
              <a:t>Infiniband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4B1DB-3A6E-AF69-DDBF-15EF2A98D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 err="1"/>
              <a:t>Infiniband</a:t>
            </a:r>
            <a:r>
              <a:rPr lang="en-US" noProof="0" dirty="0"/>
              <a:t> (IB) is a network stack designed for HPC</a:t>
            </a:r>
          </a:p>
          <a:p>
            <a:r>
              <a:rPr lang="en-US" dirty="0"/>
              <a:t>TCP is packet-oriented, IB is </a:t>
            </a:r>
            <a:r>
              <a:rPr lang="en-US" u="sng" dirty="0"/>
              <a:t>message-oriented</a:t>
            </a:r>
          </a:p>
          <a:p>
            <a:pPr lvl="1"/>
            <a:r>
              <a:rPr lang="en-US" dirty="0"/>
              <a:t>the low-level details are offloaded/managed by the NIC</a:t>
            </a:r>
            <a:endParaRPr lang="en-US" noProof="0" dirty="0"/>
          </a:p>
          <a:p>
            <a:r>
              <a:rPr lang="en-US" dirty="0"/>
              <a:t>offloads the whole network stack into the NIC</a:t>
            </a:r>
          </a:p>
          <a:p>
            <a:pPr lvl="1"/>
            <a:r>
              <a:rPr lang="en-US" dirty="0"/>
              <a:t>high performance (low latency, high throughput)</a:t>
            </a:r>
          </a:p>
          <a:p>
            <a:pPr lvl="1"/>
            <a:r>
              <a:rPr lang="en-US" noProof="0" dirty="0"/>
              <a:t>kernel is involved only in the initialization of connections</a:t>
            </a:r>
          </a:p>
          <a:p>
            <a:r>
              <a:rPr lang="en-US" noProof="0" dirty="0"/>
              <a:t>apps use </a:t>
            </a:r>
            <a:r>
              <a:rPr lang="en-US" b="1" noProof="0" dirty="0" err="1"/>
              <a:t>Infiniband</a:t>
            </a:r>
            <a:r>
              <a:rPr lang="en-US" b="1" noProof="0" dirty="0"/>
              <a:t> Verbs</a:t>
            </a:r>
            <a:r>
              <a:rPr lang="en-US" noProof="0" dirty="0"/>
              <a:t> to interact with the NIC</a:t>
            </a:r>
          </a:p>
        </p:txBody>
      </p:sp>
    </p:spTree>
    <p:extLst>
      <p:ext uri="{BB962C8B-B14F-4D97-AF65-F5344CB8AC3E}">
        <p14:creationId xmlns:p14="http://schemas.microsoft.com/office/powerpoint/2010/main" val="1426354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807E4-DCA1-6406-75EE-E10C95B83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1D5B2-2E46-C157-5136-14AB0F448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Infiniband</a:t>
            </a:r>
            <a:r>
              <a:rPr lang="en-US" noProof="0" dirty="0"/>
              <a:t> verbs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81852-99CF-A3BE-F3A3-DF3F74D8F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two main types</a:t>
            </a:r>
          </a:p>
          <a:p>
            <a:pPr lvl="1"/>
            <a:r>
              <a:rPr lang="en-US" b="1" dirty="0"/>
              <a:t>two-sided verbs</a:t>
            </a:r>
            <a:r>
              <a:rPr lang="en-US" dirty="0"/>
              <a:t>: both sender and receiver are active parts in the communication</a:t>
            </a:r>
          </a:p>
          <a:p>
            <a:pPr lvl="2"/>
            <a:r>
              <a:rPr lang="en-US" b="1" dirty="0"/>
              <a:t>SEND</a:t>
            </a:r>
            <a:r>
              <a:rPr lang="en-US" dirty="0"/>
              <a:t>: sender posts a request to send some data</a:t>
            </a:r>
          </a:p>
          <a:p>
            <a:pPr lvl="2"/>
            <a:r>
              <a:rPr lang="en-US" b="1" dirty="0"/>
              <a:t>RECV</a:t>
            </a:r>
            <a:r>
              <a:rPr lang="en-US" dirty="0"/>
              <a:t>: receiver posts a request preparing buffers to store data; NIC generates a completion event once the transmission is complete</a:t>
            </a:r>
          </a:p>
          <a:p>
            <a:pPr lvl="2"/>
            <a:r>
              <a:rPr lang="en-US" dirty="0"/>
              <a:t>CPU is involved in posting RECV and handling the completion events</a:t>
            </a:r>
          </a:p>
          <a:p>
            <a:pPr lvl="1"/>
            <a:r>
              <a:rPr lang="en-US" b="1" noProof="0" dirty="0"/>
              <a:t>one-sided verbs</a:t>
            </a:r>
            <a:r>
              <a:rPr lang="en-US" noProof="0" dirty="0"/>
              <a:t>: only the sender is the active part in the communication, the receiver is passive</a:t>
            </a:r>
          </a:p>
          <a:p>
            <a:pPr lvl="2"/>
            <a:r>
              <a:rPr lang="en-US" b="1" dirty="0"/>
              <a:t>RDMA verbs</a:t>
            </a:r>
            <a:endParaRPr lang="en-US" dirty="0"/>
          </a:p>
          <a:p>
            <a:pPr lvl="2"/>
            <a:r>
              <a:rPr lang="en-US" noProof="0" dirty="0"/>
              <a:t>no CPU intervention, high performant</a:t>
            </a:r>
          </a:p>
        </p:txBody>
      </p:sp>
    </p:spTree>
    <p:extLst>
      <p:ext uri="{BB962C8B-B14F-4D97-AF65-F5344CB8AC3E}">
        <p14:creationId xmlns:p14="http://schemas.microsoft.com/office/powerpoint/2010/main" val="1164244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6CC35-A51C-AF38-6763-9DE353B32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B3283-1635-8790-CCC6-B8AEFC4D9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0" i="0" u="none" strike="noStrike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Remote Direct Memory Access (RDMA)</a:t>
            </a:r>
            <a:endParaRPr lang="en-US" sz="40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5C279-FBEC-A3EB-56FC-9E4CAF277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/>
              <a:t>RDMA</a:t>
            </a:r>
            <a:r>
              <a:rPr lang="en-US" noProof="0" dirty="0"/>
              <a:t> is a </a:t>
            </a:r>
            <a:r>
              <a:rPr lang="en-US" u="sng" noProof="0" dirty="0"/>
              <a:t>key</a:t>
            </a:r>
            <a:r>
              <a:rPr lang="en-US" noProof="0" dirty="0"/>
              <a:t> feature of </a:t>
            </a:r>
            <a:r>
              <a:rPr lang="en-US" noProof="0" dirty="0" err="1"/>
              <a:t>Infiniband</a:t>
            </a:r>
            <a:endParaRPr lang="en-US" noProof="0" dirty="0"/>
          </a:p>
          <a:p>
            <a:pPr lvl="1"/>
            <a:r>
              <a:rPr lang="en-US" dirty="0"/>
              <a:t>enables direct memory access between nodes</a:t>
            </a:r>
          </a:p>
          <a:p>
            <a:r>
              <a:rPr lang="en-US" dirty="0"/>
              <a:t>requires a RDMA-capable NIC (in short RNIC)</a:t>
            </a:r>
            <a:endParaRPr lang="en-US" noProof="0" dirty="0"/>
          </a:p>
          <a:p>
            <a:r>
              <a:rPr lang="en-US" dirty="0"/>
              <a:t>data directly moves from the RNIC to the main memory</a:t>
            </a:r>
          </a:p>
          <a:p>
            <a:pPr lvl="1"/>
            <a:r>
              <a:rPr lang="en-US" dirty="0"/>
              <a:t>and </a:t>
            </a:r>
            <a:r>
              <a:rPr lang="en-US" dirty="0" err="1"/>
              <a:t>viceversa</a:t>
            </a:r>
            <a:endParaRPr lang="en-US" dirty="0"/>
          </a:p>
          <a:p>
            <a:pPr lvl="1"/>
            <a:r>
              <a:rPr lang="en-US" noProof="0" dirty="0"/>
              <a:t>bypasses CPU, caches, and OS</a:t>
            </a:r>
          </a:p>
          <a:p>
            <a:r>
              <a:rPr lang="en-US" sz="2800" dirty="0"/>
              <a:t>sender/remote host app is </a:t>
            </a:r>
            <a:r>
              <a:rPr lang="en-US" sz="2800" u="sng" dirty="0"/>
              <a:t>unaware</a:t>
            </a:r>
            <a:r>
              <a:rPr lang="en-US" sz="2800" dirty="0"/>
              <a:t> of the operation</a:t>
            </a:r>
          </a:p>
          <a:p>
            <a:pPr lvl="1"/>
            <a:r>
              <a:rPr lang="en-US" sz="2400" dirty="0"/>
              <a:t>needs additional mechanisms for notifications in </a:t>
            </a:r>
            <a:r>
              <a:rPr lang="en-US" sz="2400" dirty="0" err="1"/>
              <a:t>userspace</a:t>
            </a:r>
            <a:endParaRPr lang="en-US" sz="2400" dirty="0"/>
          </a:p>
          <a:p>
            <a:pPr marL="457212" lvl="1" indent="0">
              <a:buNone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64819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55C20-8BA4-C4EB-2757-55636B0E1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E66DB-049D-AC7B-41E0-82D8F226D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RDMA verbs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2772B-4305-BEB2-A649-382B7C432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RDMA Write</a:t>
            </a:r>
            <a:r>
              <a:rPr lang="en-US" sz="2400" dirty="0"/>
              <a:t>: the sender writes data into a registered memory region of the remote host</a:t>
            </a:r>
          </a:p>
          <a:p>
            <a:pPr lvl="1"/>
            <a:r>
              <a:rPr lang="en-US" sz="2000" dirty="0"/>
              <a:t>data to send must be in sender’s local memory</a:t>
            </a:r>
          </a:p>
          <a:p>
            <a:pPr lvl="2"/>
            <a:r>
              <a:rPr lang="en-US" sz="1800" dirty="0"/>
              <a:t>both main memory or GPU memory (with </a:t>
            </a:r>
            <a:r>
              <a:rPr lang="en-US" sz="1800" dirty="0" err="1"/>
              <a:t>GPUDirect</a:t>
            </a:r>
            <a:r>
              <a:rPr lang="en-US" sz="1800" dirty="0"/>
              <a:t>)</a:t>
            </a:r>
          </a:p>
          <a:p>
            <a:r>
              <a:rPr lang="en-US" sz="2400" b="1" dirty="0"/>
              <a:t>RDMA Read</a:t>
            </a:r>
            <a:r>
              <a:rPr lang="en-US" sz="2400" dirty="0"/>
              <a:t>: the sender reads data from a registered memory region of the remote host</a:t>
            </a:r>
          </a:p>
          <a:p>
            <a:pPr lvl="1"/>
            <a:r>
              <a:rPr lang="en-US" sz="2000" dirty="0"/>
              <a:t>sender must specify a local memory area where to receive data</a:t>
            </a:r>
          </a:p>
          <a:p>
            <a:pPr lvl="2"/>
            <a:r>
              <a:rPr lang="en-US" sz="1800" dirty="0"/>
              <a:t>both main memory or GPU memory (with </a:t>
            </a:r>
            <a:r>
              <a:rPr lang="en-US" sz="1800" dirty="0" err="1"/>
              <a:t>GPUDirect</a:t>
            </a:r>
            <a:r>
              <a:rPr lang="en-US" sz="1800" dirty="0"/>
              <a:t>)</a:t>
            </a:r>
          </a:p>
          <a:p>
            <a:r>
              <a:rPr lang="en-US" sz="2400" b="1" dirty="0"/>
              <a:t>Fetch &amp; Add</a:t>
            </a:r>
            <a:r>
              <a:rPr lang="en-US" sz="2400" dirty="0"/>
              <a:t>: increments the value at a specified address by a specified amount (in the remote host's memory)</a:t>
            </a:r>
            <a:endParaRPr lang="en-US" sz="2400" b="1" dirty="0"/>
          </a:p>
          <a:p>
            <a:r>
              <a:rPr lang="en-US" sz="2400" b="1" dirty="0"/>
              <a:t>Compare &amp; Swap</a:t>
            </a:r>
            <a:r>
              <a:rPr lang="en-US" sz="2400" dirty="0"/>
              <a:t>: compare the value at a specified address with a specified value and if they are equal, a specified value will be stored at the address (in the remote host's memory)</a:t>
            </a:r>
          </a:p>
        </p:txBody>
      </p:sp>
    </p:spTree>
    <p:extLst>
      <p:ext uri="{BB962C8B-B14F-4D97-AF65-F5344CB8AC3E}">
        <p14:creationId xmlns:p14="http://schemas.microsoft.com/office/powerpoint/2010/main" val="1115926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9E4D9-71C2-6FCA-88BF-0251258D8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C01F1-DD5A-B741-AACA-2DDA4ADD9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RDMA verbs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2FE01-1667-E8FC-60A8-D151BEDB7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RDMA Write</a:t>
            </a:r>
            <a:r>
              <a:rPr lang="en-US" sz="2400" dirty="0"/>
              <a:t>: the sender writes data into a registered memory region of the remote host</a:t>
            </a:r>
          </a:p>
          <a:p>
            <a:pPr lvl="1"/>
            <a:r>
              <a:rPr lang="en-US" sz="2000" dirty="0"/>
              <a:t>data to send must be in sender’s local memory</a:t>
            </a:r>
          </a:p>
          <a:p>
            <a:pPr lvl="2"/>
            <a:r>
              <a:rPr lang="en-US" sz="1800" dirty="0"/>
              <a:t>both main memory or GPU memory (with </a:t>
            </a:r>
            <a:r>
              <a:rPr lang="en-US" sz="1800" dirty="0" err="1"/>
              <a:t>GPUDirect</a:t>
            </a:r>
            <a:r>
              <a:rPr lang="en-US" sz="1800" dirty="0"/>
              <a:t>)</a:t>
            </a:r>
          </a:p>
          <a:p>
            <a:r>
              <a:rPr lang="en-US" sz="2400" b="1" dirty="0"/>
              <a:t>RDMA Read</a:t>
            </a:r>
            <a:r>
              <a:rPr lang="en-US" sz="2400" dirty="0"/>
              <a:t>: the sender reads data from a registered memory region of the remote host</a:t>
            </a:r>
          </a:p>
          <a:p>
            <a:pPr lvl="1"/>
            <a:r>
              <a:rPr lang="en-US" sz="2000" dirty="0"/>
              <a:t>sender must specify a local memory area where to receive data</a:t>
            </a:r>
          </a:p>
          <a:p>
            <a:pPr lvl="2"/>
            <a:r>
              <a:rPr lang="en-US" sz="1800" dirty="0"/>
              <a:t>both main memory or GPU memory (with </a:t>
            </a:r>
            <a:r>
              <a:rPr lang="en-US" sz="1800" dirty="0" err="1"/>
              <a:t>GPUDirect</a:t>
            </a:r>
            <a:r>
              <a:rPr lang="en-US" sz="1800" dirty="0"/>
              <a:t>)</a:t>
            </a: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Fetch &amp; Add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: increments the value at a specified address by a specified amount (in the remote host's memory)</a:t>
            </a:r>
            <a:endParaRPr lang="en-US" sz="2400" b="1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Compare &amp; Swap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: compare the value at a specified address with a specified value and if they are equal, a specified value will be stored at the address (in the remote host's memory)</a:t>
            </a:r>
          </a:p>
        </p:txBody>
      </p:sp>
    </p:spTree>
    <p:extLst>
      <p:ext uri="{BB962C8B-B14F-4D97-AF65-F5344CB8AC3E}">
        <p14:creationId xmlns:p14="http://schemas.microsoft.com/office/powerpoint/2010/main" val="780671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55139-AA36-05F1-9130-4C56FD7B3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69EF1-43F4-9684-E2B1-26986E5B6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noProof="0" dirty="0"/>
              <a:t>RDMA over Converged Ethernet (RoCE)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385B9-D5CA-9D27-F748-44576E0B8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Infiniband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incompatible with Ethernet networks</a:t>
            </a:r>
          </a:p>
          <a:p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RDMA over Converged Ethernet (RoCE)</a:t>
            </a:r>
          </a:p>
          <a:p>
            <a:pPr lvl="1"/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basically, IB transport that runs over standard Ethernet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enables IB verbs without an </a:t>
            </a:r>
            <a:r>
              <a:rPr lang="en-US" sz="24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Infiniband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network</a:t>
            </a:r>
          </a:p>
          <a:p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RoCEv1 encapsulates IB transport in Ethernet frames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legacy, not used anymore</a:t>
            </a:r>
          </a:p>
          <a:p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RoCEv2 encapsulates IB transport in IP/UDP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Layer-4 routable (with ECMP, see Lab 1)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requires RNIC support (almost every RNIC has it)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widely used in today’s datacenters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913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555A2-14AA-73B8-7138-5A9EE1F42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2F595-1943-E443-A6D3-42E39FE57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Infiniband</a:t>
            </a:r>
            <a:r>
              <a:rPr lang="en-US" dirty="0"/>
              <a:t> terminology (1)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BB9C7-4109-4D95-3CC0-69AE7DE4E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Queue Pair (QP)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pair of queues, i.e., Send Queue (SQ) &amp; Receive Queue (RQ)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used for communication between two endpoints</a:t>
            </a:r>
          </a:p>
          <a:p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Work Request (WR)</a:t>
            </a:r>
            <a:endParaRPr lang="en-US" sz="2800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high-level operation (i.e., unified API) that is submitted to a WQ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specifies the operation and the memory region involved</a:t>
            </a:r>
            <a:endParaRPr lang="en-US" sz="2400" b="0" i="0" u="none" strike="noStrike" dirty="0">
              <a:solidFill>
                <a:srgbClr val="000000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each 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 results in a </a:t>
            </a:r>
            <a:r>
              <a:rPr lang="en-US" sz="240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Work Queue Entry (WQE)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Work Queue (WQ)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structure holding Work Queue Entries (WQEs) for pending operations</a:t>
            </a:r>
          </a:p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Work Queue Entry (WQE)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low-level (</a:t>
            </a: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i.e., RNIC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driver) command posted to a Work Queue</a:t>
            </a:r>
          </a:p>
        </p:txBody>
      </p:sp>
    </p:spTree>
    <p:extLst>
      <p:ext uri="{BB962C8B-B14F-4D97-AF65-F5344CB8AC3E}">
        <p14:creationId xmlns:p14="http://schemas.microsoft.com/office/powerpoint/2010/main" val="921360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E2995-BD02-683A-592D-ED195703B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07CB6-523A-D31F-0A5D-F82DD8CB5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Infiniband</a:t>
            </a:r>
            <a:r>
              <a:rPr lang="en-US" dirty="0"/>
              <a:t> terminology (2)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9AB0E-D721-118A-F191-959AF3CEA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Completion Queue (CQ)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queue that tracks completed WQ operations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multiple QPs can share a single CQ</a:t>
            </a:r>
          </a:p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Completion Queue Entry (CQE)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entry in the CQ 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indicates the completion status of a WQE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allows applications to check for successful/failed operations</a:t>
            </a:r>
          </a:p>
        </p:txBody>
      </p:sp>
    </p:spTree>
    <p:extLst>
      <p:ext uri="{BB962C8B-B14F-4D97-AF65-F5344CB8AC3E}">
        <p14:creationId xmlns:p14="http://schemas.microsoft.com/office/powerpoint/2010/main" val="1706941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AA836-829B-9289-EB2B-5AB0479CE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DFD06-D4ED-E1D4-F49A-1E14312BD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sender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1A2E77-D1EE-A03F-8806-29637E6816E1}"/>
              </a:ext>
            </a:extLst>
          </p:cNvPr>
          <p:cNvSpPr txBox="1"/>
          <p:nvPr/>
        </p:nvSpPr>
        <p:spPr>
          <a:xfrm>
            <a:off x="3996306" y="4998410"/>
            <a:ext cx="1299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Queue Pair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169762-D948-4856-F7A5-4A2028F20D66}"/>
              </a:ext>
            </a:extLst>
          </p:cNvPr>
          <p:cNvSpPr txBox="1"/>
          <p:nvPr/>
        </p:nvSpPr>
        <p:spPr>
          <a:xfrm>
            <a:off x="5398814" y="5301600"/>
            <a:ext cx="13613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Receive Queue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BEE757-78BD-7279-6613-D0040A44427E}"/>
              </a:ext>
            </a:extLst>
          </p:cNvPr>
          <p:cNvSpPr txBox="1"/>
          <p:nvPr/>
        </p:nvSpPr>
        <p:spPr>
          <a:xfrm>
            <a:off x="5611821" y="4756774"/>
            <a:ext cx="1148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Send Queue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852F2C-EA5E-A186-3D59-3E08FE3DE949}"/>
              </a:ext>
            </a:extLst>
          </p:cNvPr>
          <p:cNvSpPr txBox="1"/>
          <p:nvPr/>
        </p:nvSpPr>
        <p:spPr>
          <a:xfrm>
            <a:off x="1824027" y="1732664"/>
            <a:ext cx="1279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application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7D6AF1-CB80-76D1-892E-D9A43D0BCD49}"/>
              </a:ext>
            </a:extLst>
          </p:cNvPr>
          <p:cNvSpPr txBox="1"/>
          <p:nvPr/>
        </p:nvSpPr>
        <p:spPr>
          <a:xfrm>
            <a:off x="6326438" y="1724353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/>
              <a:t>host memory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37ECF6-AF23-9142-4C84-78037F1A446E}"/>
              </a:ext>
            </a:extLst>
          </p:cNvPr>
          <p:cNvSpPr/>
          <p:nvPr/>
        </p:nvSpPr>
        <p:spPr>
          <a:xfrm>
            <a:off x="5127622" y="2387472"/>
            <a:ext cx="1877092" cy="4478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D58EDF-1F78-705B-4383-C97C121B0B40}"/>
              </a:ext>
            </a:extLst>
          </p:cNvPr>
          <p:cNvSpPr txBox="1"/>
          <p:nvPr/>
        </p:nvSpPr>
        <p:spPr>
          <a:xfrm>
            <a:off x="5557488" y="2101412"/>
            <a:ext cx="10285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Work Queue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9A746F-4E47-1C59-07B6-82146424C8E8}"/>
              </a:ext>
            </a:extLst>
          </p:cNvPr>
          <p:cNvSpPr/>
          <p:nvPr/>
        </p:nvSpPr>
        <p:spPr>
          <a:xfrm>
            <a:off x="6846709" y="4686761"/>
            <a:ext cx="1877092" cy="4478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209C09-4A84-ABA5-0677-994DD4E4D76E}"/>
              </a:ext>
            </a:extLst>
          </p:cNvPr>
          <p:cNvSpPr/>
          <p:nvPr/>
        </p:nvSpPr>
        <p:spPr>
          <a:xfrm>
            <a:off x="6846709" y="5231587"/>
            <a:ext cx="1877092" cy="4478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8091237C-23C0-5961-F459-949183399406}"/>
              </a:ext>
            </a:extLst>
          </p:cNvPr>
          <p:cNvSpPr/>
          <p:nvPr/>
        </p:nvSpPr>
        <p:spPr>
          <a:xfrm rot="10800000">
            <a:off x="5308743" y="4686761"/>
            <a:ext cx="139033" cy="992631"/>
          </a:xfrm>
          <a:prstGeom prst="rightBrac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F7BA60-51A8-0285-ADA4-EC478CD495A9}"/>
              </a:ext>
            </a:extLst>
          </p:cNvPr>
          <p:cNvSpPr/>
          <p:nvPr/>
        </p:nvSpPr>
        <p:spPr>
          <a:xfrm>
            <a:off x="1630578" y="1729875"/>
            <a:ext cx="1666672" cy="126867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AF24FD-85ED-7B60-A19A-2A685F05C51C}"/>
              </a:ext>
            </a:extLst>
          </p:cNvPr>
          <p:cNvSpPr/>
          <p:nvPr/>
        </p:nvSpPr>
        <p:spPr>
          <a:xfrm>
            <a:off x="4861908" y="1732664"/>
            <a:ext cx="4452573" cy="126867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9F23E2-79D1-DD8E-1488-7ABEAD3E5277}"/>
              </a:ext>
            </a:extLst>
          </p:cNvPr>
          <p:cNvSpPr txBox="1"/>
          <p:nvPr/>
        </p:nvSpPr>
        <p:spPr>
          <a:xfrm>
            <a:off x="6069781" y="4165679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/>
              <a:t>RNIC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AD7B0D-B703-8EB7-F8E0-5CA3E3C5268F}"/>
              </a:ext>
            </a:extLst>
          </p:cNvPr>
          <p:cNvSpPr/>
          <p:nvPr/>
        </p:nvSpPr>
        <p:spPr>
          <a:xfrm>
            <a:off x="3888115" y="4165679"/>
            <a:ext cx="5114441" cy="175305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0699694-2B6C-B6C8-A427-21225523231D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>
          <a:xfrm>
            <a:off x="2863071" y="2610062"/>
            <a:ext cx="2264551" cy="131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5F74221-3A2A-E549-79AE-C21C5C682921}"/>
              </a:ext>
            </a:extLst>
          </p:cNvPr>
          <p:cNvSpPr txBox="1"/>
          <p:nvPr/>
        </p:nvSpPr>
        <p:spPr>
          <a:xfrm>
            <a:off x="3700086" y="2212057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06B389-E2A0-3345-ECED-96AC47060B09}"/>
              </a:ext>
            </a:extLst>
          </p:cNvPr>
          <p:cNvSpPr/>
          <p:nvPr/>
        </p:nvSpPr>
        <p:spPr>
          <a:xfrm>
            <a:off x="2124035" y="2386160"/>
            <a:ext cx="739036" cy="44780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6DCE954-724E-ADDC-BAFD-30B77C194A7D}"/>
              </a:ext>
            </a:extLst>
          </p:cNvPr>
          <p:cNvCxnSpPr>
            <a:cxnSpLocks/>
            <a:stCxn id="21" idx="0"/>
            <a:endCxn id="26" idx="2"/>
          </p:cNvCxnSpPr>
          <p:nvPr/>
        </p:nvCxnSpPr>
        <p:spPr>
          <a:xfrm flipH="1" flipV="1">
            <a:off x="5497140" y="2833963"/>
            <a:ext cx="948196" cy="133171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932B68D-87E4-8512-8180-2E0F3C7B42F5}"/>
              </a:ext>
            </a:extLst>
          </p:cNvPr>
          <p:cNvSpPr txBox="1"/>
          <p:nvPr/>
        </p:nvSpPr>
        <p:spPr>
          <a:xfrm>
            <a:off x="6096000" y="3288024"/>
            <a:ext cx="1311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poll (DMA)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1F673C3-A6EB-1191-5E2A-AD134A2693B2}"/>
              </a:ext>
            </a:extLst>
          </p:cNvPr>
          <p:cNvSpPr/>
          <p:nvPr/>
        </p:nvSpPr>
        <p:spPr>
          <a:xfrm>
            <a:off x="5127622" y="2386160"/>
            <a:ext cx="739036" cy="447803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WQE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8B632D5-F9FB-2251-A211-A6A197A06AA3}"/>
              </a:ext>
            </a:extLst>
          </p:cNvPr>
          <p:cNvSpPr/>
          <p:nvPr/>
        </p:nvSpPr>
        <p:spPr>
          <a:xfrm>
            <a:off x="7206555" y="2393728"/>
            <a:ext cx="1877092" cy="4478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E41920-8F25-E1AC-B393-E169A2FD3CFE}"/>
              </a:ext>
            </a:extLst>
          </p:cNvPr>
          <p:cNvSpPr txBox="1"/>
          <p:nvPr/>
        </p:nvSpPr>
        <p:spPr>
          <a:xfrm>
            <a:off x="7423589" y="2117451"/>
            <a:ext cx="1443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Completion Queue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CC51A27-90CF-E62C-FAB5-E276D503920F}"/>
              </a:ext>
            </a:extLst>
          </p:cNvPr>
          <p:cNvSpPr/>
          <p:nvPr/>
        </p:nvSpPr>
        <p:spPr>
          <a:xfrm>
            <a:off x="5123772" y="2393728"/>
            <a:ext cx="739036" cy="447803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WQE</a:t>
            </a:r>
          </a:p>
        </p:txBody>
      </p:sp>
    </p:spTree>
    <p:extLst>
      <p:ext uri="{BB962C8B-B14F-4D97-AF65-F5344CB8AC3E}">
        <p14:creationId xmlns:p14="http://schemas.microsoft.com/office/powerpoint/2010/main" val="2909476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4.44444E-6 L 0.24661 4.44444E-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31" y="0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4.44444E-6 L 0.2349 0.33564 " pathEditMode="relative" rAng="0" ptsTypes="AA">
                                      <p:cBhvr>
                                        <p:cTn id="7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45" y="167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  <p:bldP spid="12" grpId="0"/>
      <p:bldP spid="13" grpId="0" animBg="1"/>
      <p:bldP spid="14" grpId="0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1" grpId="0" animBg="1"/>
      <p:bldP spid="25" grpId="0"/>
      <p:bldP spid="25" grpId="1"/>
      <p:bldP spid="10" grpId="0" animBg="1"/>
      <p:bldP spid="10" grpId="1" animBg="1"/>
      <p:bldP spid="10" grpId="2" animBg="1"/>
      <p:bldP spid="30" grpId="0"/>
      <p:bldP spid="26" grpId="0" animBg="1"/>
      <p:bldP spid="26" grpId="1" animBg="1"/>
      <p:bldP spid="35" grpId="0" animBg="1"/>
      <p:bldP spid="36" grpId="0"/>
      <p:bldP spid="3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83D7E-B40A-351F-59C1-126493099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43DE0-E51F-2D54-BF48-E98C554CE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sender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F06B9D-4E0B-F547-B339-5EA996CF02DC}"/>
              </a:ext>
            </a:extLst>
          </p:cNvPr>
          <p:cNvSpPr txBox="1"/>
          <p:nvPr/>
        </p:nvSpPr>
        <p:spPr>
          <a:xfrm>
            <a:off x="3996306" y="4998410"/>
            <a:ext cx="1299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Queue Pair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F249B3-8672-92DA-3E2A-88BCDBDB339B}"/>
              </a:ext>
            </a:extLst>
          </p:cNvPr>
          <p:cNvSpPr txBox="1"/>
          <p:nvPr/>
        </p:nvSpPr>
        <p:spPr>
          <a:xfrm>
            <a:off x="5398814" y="5301600"/>
            <a:ext cx="13613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Receive Queue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74DC1A-ADE5-9F74-4BDB-338F67793BB6}"/>
              </a:ext>
            </a:extLst>
          </p:cNvPr>
          <p:cNvSpPr txBox="1"/>
          <p:nvPr/>
        </p:nvSpPr>
        <p:spPr>
          <a:xfrm>
            <a:off x="5611821" y="4756774"/>
            <a:ext cx="1148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Send Queue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B0DEFB-8E3E-CF10-27FF-CDB8B89FAEAD}"/>
              </a:ext>
            </a:extLst>
          </p:cNvPr>
          <p:cNvSpPr txBox="1"/>
          <p:nvPr/>
        </p:nvSpPr>
        <p:spPr>
          <a:xfrm>
            <a:off x="1824027" y="1732664"/>
            <a:ext cx="1279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application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B96E3A-B478-557B-D4FF-F66EBA81621B}"/>
              </a:ext>
            </a:extLst>
          </p:cNvPr>
          <p:cNvSpPr txBox="1"/>
          <p:nvPr/>
        </p:nvSpPr>
        <p:spPr>
          <a:xfrm>
            <a:off x="6326438" y="1724353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/>
              <a:t>host memory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DAEB42-CF52-9DAB-82F6-3B3FEF6443D3}"/>
              </a:ext>
            </a:extLst>
          </p:cNvPr>
          <p:cNvSpPr/>
          <p:nvPr/>
        </p:nvSpPr>
        <p:spPr>
          <a:xfrm>
            <a:off x="5127622" y="2387472"/>
            <a:ext cx="1877092" cy="4478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E0CCE0-CF84-5086-2B34-E0AC3D496F15}"/>
              </a:ext>
            </a:extLst>
          </p:cNvPr>
          <p:cNvSpPr txBox="1"/>
          <p:nvPr/>
        </p:nvSpPr>
        <p:spPr>
          <a:xfrm>
            <a:off x="5557488" y="2101412"/>
            <a:ext cx="10285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Work Queue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61C0C9-663D-7380-812B-FFE4BD8D6A27}"/>
              </a:ext>
            </a:extLst>
          </p:cNvPr>
          <p:cNvSpPr/>
          <p:nvPr/>
        </p:nvSpPr>
        <p:spPr>
          <a:xfrm>
            <a:off x="6846709" y="4686761"/>
            <a:ext cx="1877092" cy="4478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C18DE9-FB32-376C-4854-8E24B9A8086C}"/>
              </a:ext>
            </a:extLst>
          </p:cNvPr>
          <p:cNvSpPr/>
          <p:nvPr/>
        </p:nvSpPr>
        <p:spPr>
          <a:xfrm>
            <a:off x="6846709" y="5231587"/>
            <a:ext cx="1877092" cy="4478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B3CF0C3C-8CFF-1F0A-05BB-EC5F1ED6C137}"/>
              </a:ext>
            </a:extLst>
          </p:cNvPr>
          <p:cNvSpPr/>
          <p:nvPr/>
        </p:nvSpPr>
        <p:spPr>
          <a:xfrm rot="10800000">
            <a:off x="5308743" y="4686761"/>
            <a:ext cx="139033" cy="992631"/>
          </a:xfrm>
          <a:prstGeom prst="rightBrac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E00C22-80B4-F450-9055-4977DA8C5C53}"/>
              </a:ext>
            </a:extLst>
          </p:cNvPr>
          <p:cNvSpPr/>
          <p:nvPr/>
        </p:nvSpPr>
        <p:spPr>
          <a:xfrm>
            <a:off x="1630578" y="1729875"/>
            <a:ext cx="1666672" cy="126867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F99FE5-57AE-80D6-3EFF-950DE339C7C5}"/>
              </a:ext>
            </a:extLst>
          </p:cNvPr>
          <p:cNvSpPr/>
          <p:nvPr/>
        </p:nvSpPr>
        <p:spPr>
          <a:xfrm>
            <a:off x="4861908" y="1732664"/>
            <a:ext cx="4452573" cy="126867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D3A62B-BEA6-297C-3B59-886393A99BF3}"/>
              </a:ext>
            </a:extLst>
          </p:cNvPr>
          <p:cNvSpPr txBox="1"/>
          <p:nvPr/>
        </p:nvSpPr>
        <p:spPr>
          <a:xfrm>
            <a:off x="6069781" y="4165679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/>
              <a:t>RNIC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FD9E52-9A5D-34B7-2195-9AFAF570B03F}"/>
              </a:ext>
            </a:extLst>
          </p:cNvPr>
          <p:cNvSpPr/>
          <p:nvPr/>
        </p:nvSpPr>
        <p:spPr>
          <a:xfrm>
            <a:off x="3888115" y="4165679"/>
            <a:ext cx="5114441" cy="175305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A0AB644-F92B-83D2-6FA2-681FB02B3F5E}"/>
              </a:ext>
            </a:extLst>
          </p:cNvPr>
          <p:cNvSpPr/>
          <p:nvPr/>
        </p:nvSpPr>
        <p:spPr>
          <a:xfrm>
            <a:off x="7206555" y="2393728"/>
            <a:ext cx="1877092" cy="4478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044CAE-60F1-885A-0587-358AB6210C34}"/>
              </a:ext>
            </a:extLst>
          </p:cNvPr>
          <p:cNvSpPr txBox="1"/>
          <p:nvPr/>
        </p:nvSpPr>
        <p:spPr>
          <a:xfrm>
            <a:off x="7423589" y="2117451"/>
            <a:ext cx="1443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Completion Queue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8B181F4-D890-255C-42B0-D0352DCF02E0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8370197" y="4022270"/>
            <a:ext cx="440101" cy="66952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06FF80E-7C4D-B1D7-AD43-A07F1F7CA167}"/>
              </a:ext>
            </a:extLst>
          </p:cNvPr>
          <p:cNvSpPr txBox="1"/>
          <p:nvPr/>
        </p:nvSpPr>
        <p:spPr>
          <a:xfrm>
            <a:off x="7582058" y="3437495"/>
            <a:ext cx="2456480" cy="58477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 request and send on the wire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C64A15-65C9-912C-C235-A718F9255AB2}"/>
              </a:ext>
            </a:extLst>
          </p:cNvPr>
          <p:cNvSpPr/>
          <p:nvPr/>
        </p:nvSpPr>
        <p:spPr>
          <a:xfrm>
            <a:off x="7992415" y="4686763"/>
            <a:ext cx="739036" cy="447803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WQE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9AFA7B-C338-576A-19B7-1C39A723F03F}"/>
              </a:ext>
            </a:extLst>
          </p:cNvPr>
          <p:cNvSpPr/>
          <p:nvPr/>
        </p:nvSpPr>
        <p:spPr>
          <a:xfrm>
            <a:off x="5122647" y="2386138"/>
            <a:ext cx="739036" cy="447803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WQE</a:t>
            </a:r>
          </a:p>
        </p:txBody>
      </p:sp>
    </p:spTree>
    <p:extLst>
      <p:ext uri="{BB962C8B-B14F-4D97-AF65-F5344CB8AC3E}">
        <p14:creationId xmlns:p14="http://schemas.microsoft.com/office/powerpoint/2010/main" val="2733486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2.22222E-6 L 0.46159 -0.00185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073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7267E-3DD7-D5EE-0269-D8205DD48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CC031-A6CA-0D9A-66C0-305728B94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sender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67829F-C256-9456-8EEF-9232023D140E}"/>
              </a:ext>
            </a:extLst>
          </p:cNvPr>
          <p:cNvSpPr txBox="1"/>
          <p:nvPr/>
        </p:nvSpPr>
        <p:spPr>
          <a:xfrm>
            <a:off x="3996306" y="4998410"/>
            <a:ext cx="1299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Queue Pair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B6FC87-DDC0-7696-CB49-D6E2CA153743}"/>
              </a:ext>
            </a:extLst>
          </p:cNvPr>
          <p:cNvSpPr txBox="1"/>
          <p:nvPr/>
        </p:nvSpPr>
        <p:spPr>
          <a:xfrm>
            <a:off x="5398814" y="5301600"/>
            <a:ext cx="13613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Receive Queue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F38166-8871-6103-DD45-3F13234A3EC9}"/>
              </a:ext>
            </a:extLst>
          </p:cNvPr>
          <p:cNvSpPr txBox="1"/>
          <p:nvPr/>
        </p:nvSpPr>
        <p:spPr>
          <a:xfrm>
            <a:off x="5611821" y="4756774"/>
            <a:ext cx="1148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Send Queue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4FC368-9809-0641-ECFA-861340A20A87}"/>
              </a:ext>
            </a:extLst>
          </p:cNvPr>
          <p:cNvSpPr txBox="1"/>
          <p:nvPr/>
        </p:nvSpPr>
        <p:spPr>
          <a:xfrm>
            <a:off x="1824027" y="1732664"/>
            <a:ext cx="1279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application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EDF8EA-B3E0-D85E-08C5-7FAE6BD3FA1A}"/>
              </a:ext>
            </a:extLst>
          </p:cNvPr>
          <p:cNvSpPr txBox="1"/>
          <p:nvPr/>
        </p:nvSpPr>
        <p:spPr>
          <a:xfrm>
            <a:off x="6326438" y="1724353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/>
              <a:t>host memory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5E6C06-77AC-832A-A758-8C9C2B4C4DE0}"/>
              </a:ext>
            </a:extLst>
          </p:cNvPr>
          <p:cNvSpPr/>
          <p:nvPr/>
        </p:nvSpPr>
        <p:spPr>
          <a:xfrm>
            <a:off x="5127622" y="2387472"/>
            <a:ext cx="1877092" cy="4478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652C2E-6435-5B2A-673E-F0D06771E44D}"/>
              </a:ext>
            </a:extLst>
          </p:cNvPr>
          <p:cNvSpPr txBox="1"/>
          <p:nvPr/>
        </p:nvSpPr>
        <p:spPr>
          <a:xfrm>
            <a:off x="5557488" y="2101412"/>
            <a:ext cx="10285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Work Queue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EEA812-B18B-6BF3-076C-01DE62AB2A0C}"/>
              </a:ext>
            </a:extLst>
          </p:cNvPr>
          <p:cNvSpPr/>
          <p:nvPr/>
        </p:nvSpPr>
        <p:spPr>
          <a:xfrm>
            <a:off x="6846709" y="4686761"/>
            <a:ext cx="1877092" cy="4478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D3D325-5080-AD21-06DC-E1FE1233DA0A}"/>
              </a:ext>
            </a:extLst>
          </p:cNvPr>
          <p:cNvSpPr/>
          <p:nvPr/>
        </p:nvSpPr>
        <p:spPr>
          <a:xfrm>
            <a:off x="6846709" y="5231587"/>
            <a:ext cx="1877092" cy="4478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130470EB-5540-B02C-F4D1-157CCAB4F999}"/>
              </a:ext>
            </a:extLst>
          </p:cNvPr>
          <p:cNvSpPr/>
          <p:nvPr/>
        </p:nvSpPr>
        <p:spPr>
          <a:xfrm rot="10800000">
            <a:off x="5308743" y="4686761"/>
            <a:ext cx="139033" cy="992631"/>
          </a:xfrm>
          <a:prstGeom prst="rightBrac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DB1D04-CCC2-25EB-F574-51031851FBF7}"/>
              </a:ext>
            </a:extLst>
          </p:cNvPr>
          <p:cNvSpPr/>
          <p:nvPr/>
        </p:nvSpPr>
        <p:spPr>
          <a:xfrm>
            <a:off x="1630578" y="1729875"/>
            <a:ext cx="1666672" cy="126867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D0FBEB-E9B0-9108-13D6-613B411755FA}"/>
              </a:ext>
            </a:extLst>
          </p:cNvPr>
          <p:cNvSpPr/>
          <p:nvPr/>
        </p:nvSpPr>
        <p:spPr>
          <a:xfrm>
            <a:off x="4861908" y="1732664"/>
            <a:ext cx="4452573" cy="126867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D16DF1-34D1-29C6-AF96-C65D5F162EFD}"/>
              </a:ext>
            </a:extLst>
          </p:cNvPr>
          <p:cNvSpPr txBox="1"/>
          <p:nvPr/>
        </p:nvSpPr>
        <p:spPr>
          <a:xfrm>
            <a:off x="6069781" y="4165679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/>
              <a:t>RNIC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8B4EEB-0554-2C8C-4B81-6F52DF1DECF8}"/>
              </a:ext>
            </a:extLst>
          </p:cNvPr>
          <p:cNvSpPr/>
          <p:nvPr/>
        </p:nvSpPr>
        <p:spPr>
          <a:xfrm>
            <a:off x="3888115" y="4165679"/>
            <a:ext cx="5114441" cy="175305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BE469B5-DBE1-3F53-2993-8DA336E87C18}"/>
              </a:ext>
            </a:extLst>
          </p:cNvPr>
          <p:cNvSpPr/>
          <p:nvPr/>
        </p:nvSpPr>
        <p:spPr>
          <a:xfrm>
            <a:off x="7206555" y="2393728"/>
            <a:ext cx="1877092" cy="4478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B5E57B-D9CE-2576-A45F-2980AF500B87}"/>
              </a:ext>
            </a:extLst>
          </p:cNvPr>
          <p:cNvSpPr txBox="1"/>
          <p:nvPr/>
        </p:nvSpPr>
        <p:spPr>
          <a:xfrm>
            <a:off x="7423589" y="2117451"/>
            <a:ext cx="1443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Completion Queue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7348B8-6CC0-7F3A-DE0E-A4F61FC0BEA3}"/>
              </a:ext>
            </a:extLst>
          </p:cNvPr>
          <p:cNvSpPr txBox="1"/>
          <p:nvPr/>
        </p:nvSpPr>
        <p:spPr>
          <a:xfrm>
            <a:off x="8217637" y="3474374"/>
            <a:ext cx="2456480" cy="338554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operation successful!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2B1F09-8B6B-DA3B-7B4F-BFCC6BFC04BE}"/>
              </a:ext>
            </a:extLst>
          </p:cNvPr>
          <p:cNvSpPr/>
          <p:nvPr/>
        </p:nvSpPr>
        <p:spPr>
          <a:xfrm>
            <a:off x="5122647" y="2386138"/>
            <a:ext cx="739036" cy="447803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WQE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498F81B-4332-9901-5EF2-A64255A7C5D5}"/>
              </a:ext>
            </a:extLst>
          </p:cNvPr>
          <p:cNvCxnSpPr>
            <a:cxnSpLocks/>
            <a:stCxn id="4" idx="1"/>
            <a:endCxn id="21" idx="0"/>
          </p:cNvCxnSpPr>
          <p:nvPr/>
        </p:nvCxnSpPr>
        <p:spPr>
          <a:xfrm flipH="1">
            <a:off x="6445336" y="3643651"/>
            <a:ext cx="1772301" cy="522028"/>
          </a:xfrm>
          <a:prstGeom prst="straightConnector1">
            <a:avLst/>
          </a:prstGeom>
          <a:ln>
            <a:solidFill>
              <a:srgbClr val="00B050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F19A042-0601-B7EC-99C7-1D1AFAA4D2C0}"/>
              </a:ext>
            </a:extLst>
          </p:cNvPr>
          <p:cNvCxnSpPr>
            <a:cxnSpLocks/>
            <a:stCxn id="4" idx="1"/>
            <a:endCxn id="7" idx="2"/>
          </p:cNvCxnSpPr>
          <p:nvPr/>
        </p:nvCxnSpPr>
        <p:spPr>
          <a:xfrm flipH="1" flipV="1">
            <a:off x="5492165" y="2833941"/>
            <a:ext cx="2725472" cy="80971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7491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F5913-BDBA-15E7-F1EC-7EC5F7F7E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3912-842C-DEC2-5E0E-39970B2B1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sender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4752A7-257D-1C15-8956-7645EA6A7084}"/>
              </a:ext>
            </a:extLst>
          </p:cNvPr>
          <p:cNvSpPr txBox="1"/>
          <p:nvPr/>
        </p:nvSpPr>
        <p:spPr>
          <a:xfrm>
            <a:off x="3996306" y="4998410"/>
            <a:ext cx="1299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Queue Pair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A21DF3-51A7-C157-268B-67CC0D9CE1F0}"/>
              </a:ext>
            </a:extLst>
          </p:cNvPr>
          <p:cNvSpPr txBox="1"/>
          <p:nvPr/>
        </p:nvSpPr>
        <p:spPr>
          <a:xfrm>
            <a:off x="5398814" y="5301600"/>
            <a:ext cx="13613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Receive Queue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AE1162-FA27-7A4B-6F24-3C32B24F12C1}"/>
              </a:ext>
            </a:extLst>
          </p:cNvPr>
          <p:cNvSpPr txBox="1"/>
          <p:nvPr/>
        </p:nvSpPr>
        <p:spPr>
          <a:xfrm>
            <a:off x="5611821" y="4756774"/>
            <a:ext cx="1148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Send Queue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AB6D8E-BD2A-50AF-3141-33968EB163E4}"/>
              </a:ext>
            </a:extLst>
          </p:cNvPr>
          <p:cNvSpPr txBox="1"/>
          <p:nvPr/>
        </p:nvSpPr>
        <p:spPr>
          <a:xfrm>
            <a:off x="1824027" y="1732664"/>
            <a:ext cx="1279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application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99E50E-287C-C74D-FA57-AA6D12910F9A}"/>
              </a:ext>
            </a:extLst>
          </p:cNvPr>
          <p:cNvSpPr txBox="1"/>
          <p:nvPr/>
        </p:nvSpPr>
        <p:spPr>
          <a:xfrm>
            <a:off x="6326438" y="1724353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/>
              <a:t>host memory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4045E8-2A4F-1636-E4C4-D60D630A86C9}"/>
              </a:ext>
            </a:extLst>
          </p:cNvPr>
          <p:cNvSpPr/>
          <p:nvPr/>
        </p:nvSpPr>
        <p:spPr>
          <a:xfrm>
            <a:off x="5127622" y="2387472"/>
            <a:ext cx="1877092" cy="4478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980B4F-4763-719E-8D8A-3D51A31EACA5}"/>
              </a:ext>
            </a:extLst>
          </p:cNvPr>
          <p:cNvSpPr txBox="1"/>
          <p:nvPr/>
        </p:nvSpPr>
        <p:spPr>
          <a:xfrm>
            <a:off x="5557488" y="2101412"/>
            <a:ext cx="10285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Work Queue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77AB01-C910-F2A5-9C8C-BEBFE6570F5F}"/>
              </a:ext>
            </a:extLst>
          </p:cNvPr>
          <p:cNvSpPr/>
          <p:nvPr/>
        </p:nvSpPr>
        <p:spPr>
          <a:xfrm>
            <a:off x="6846709" y="4686761"/>
            <a:ext cx="1877092" cy="4478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575222-66BC-479F-1C2A-C7F3CB60DDA2}"/>
              </a:ext>
            </a:extLst>
          </p:cNvPr>
          <p:cNvSpPr/>
          <p:nvPr/>
        </p:nvSpPr>
        <p:spPr>
          <a:xfrm>
            <a:off x="6846709" y="5231587"/>
            <a:ext cx="1877092" cy="4478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F77267A7-B578-59D2-3F1C-7C8EB0C2A0B6}"/>
              </a:ext>
            </a:extLst>
          </p:cNvPr>
          <p:cNvSpPr/>
          <p:nvPr/>
        </p:nvSpPr>
        <p:spPr>
          <a:xfrm rot="10800000">
            <a:off x="5308743" y="4686761"/>
            <a:ext cx="139033" cy="992631"/>
          </a:xfrm>
          <a:prstGeom prst="rightBrac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61AE86-5621-729E-588B-5300BC21F053}"/>
              </a:ext>
            </a:extLst>
          </p:cNvPr>
          <p:cNvSpPr/>
          <p:nvPr/>
        </p:nvSpPr>
        <p:spPr>
          <a:xfrm>
            <a:off x="1630578" y="1729875"/>
            <a:ext cx="1666672" cy="126867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77B040-AF6F-620D-658C-E5DFE2D7D50C}"/>
              </a:ext>
            </a:extLst>
          </p:cNvPr>
          <p:cNvSpPr/>
          <p:nvPr/>
        </p:nvSpPr>
        <p:spPr>
          <a:xfrm>
            <a:off x="4861908" y="1732664"/>
            <a:ext cx="4452573" cy="126867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F3672B-A763-7AC7-18F2-1F1EA48C2BE6}"/>
              </a:ext>
            </a:extLst>
          </p:cNvPr>
          <p:cNvSpPr txBox="1"/>
          <p:nvPr/>
        </p:nvSpPr>
        <p:spPr>
          <a:xfrm>
            <a:off x="6069781" y="4165679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/>
              <a:t>RNIC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5FB02B-1EC1-21E5-AC7D-A01E64E3AB57}"/>
              </a:ext>
            </a:extLst>
          </p:cNvPr>
          <p:cNvSpPr/>
          <p:nvPr/>
        </p:nvSpPr>
        <p:spPr>
          <a:xfrm>
            <a:off x="3888115" y="4165679"/>
            <a:ext cx="5114441" cy="175305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E6D7141-AB1A-B93D-07EB-56AB673B5725}"/>
              </a:ext>
            </a:extLst>
          </p:cNvPr>
          <p:cNvSpPr/>
          <p:nvPr/>
        </p:nvSpPr>
        <p:spPr>
          <a:xfrm>
            <a:off x="7206555" y="2393728"/>
            <a:ext cx="1877092" cy="4478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006DB8-DBF5-B7AD-88EF-8CAD9D24451C}"/>
              </a:ext>
            </a:extLst>
          </p:cNvPr>
          <p:cNvSpPr txBox="1"/>
          <p:nvPr/>
        </p:nvSpPr>
        <p:spPr>
          <a:xfrm>
            <a:off x="7423589" y="2117451"/>
            <a:ext cx="1443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Completion Queue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B580E5-A51D-8BDB-F1E6-FAD76350B4B4}"/>
              </a:ext>
            </a:extLst>
          </p:cNvPr>
          <p:cNvSpPr txBox="1"/>
          <p:nvPr/>
        </p:nvSpPr>
        <p:spPr>
          <a:xfrm>
            <a:off x="8217637" y="3474374"/>
            <a:ext cx="2456480" cy="338554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operation successful!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82757C-B1EB-926D-E8E6-7D5F673E1B62}"/>
              </a:ext>
            </a:extLst>
          </p:cNvPr>
          <p:cNvSpPr/>
          <p:nvPr/>
        </p:nvSpPr>
        <p:spPr>
          <a:xfrm>
            <a:off x="7206555" y="2393728"/>
            <a:ext cx="739036" cy="447803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CQE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243FA88-280C-A35A-9188-E5E084C1FFAE}"/>
              </a:ext>
            </a:extLst>
          </p:cNvPr>
          <p:cNvCxnSpPr>
            <a:cxnSpLocks/>
            <a:stCxn id="4" idx="1"/>
            <a:endCxn id="10" idx="2"/>
          </p:cNvCxnSpPr>
          <p:nvPr/>
        </p:nvCxnSpPr>
        <p:spPr>
          <a:xfrm flipH="1" flipV="1">
            <a:off x="7576073" y="2841531"/>
            <a:ext cx="641564" cy="8021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FCEB795-8ED1-7C15-3652-14CCB33C3AD1}"/>
              </a:ext>
            </a:extLst>
          </p:cNvPr>
          <p:cNvSpPr txBox="1"/>
          <p:nvPr/>
        </p:nvSpPr>
        <p:spPr>
          <a:xfrm>
            <a:off x="8014025" y="3096945"/>
            <a:ext cx="12732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generate CQE</a:t>
            </a:r>
          </a:p>
        </p:txBody>
      </p:sp>
    </p:spTree>
    <p:extLst>
      <p:ext uri="{BB962C8B-B14F-4D97-AF65-F5344CB8AC3E}">
        <p14:creationId xmlns:p14="http://schemas.microsoft.com/office/powerpoint/2010/main" val="4059304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44 0.0007 L -0.42434 -0.01921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289" y="-99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A6FD1-AAE8-A88E-CE07-A623AC4B0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461C6-8D38-438C-2F3C-26F202EF4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receiver example (for two-sided)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2C52C8-21A3-2161-37BE-B709DE5BC84B}"/>
              </a:ext>
            </a:extLst>
          </p:cNvPr>
          <p:cNvSpPr txBox="1"/>
          <p:nvPr/>
        </p:nvSpPr>
        <p:spPr>
          <a:xfrm>
            <a:off x="3996306" y="4998410"/>
            <a:ext cx="1299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Queue Pair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FB17A8-7D05-E1CB-C079-66DAB249B395}"/>
              </a:ext>
            </a:extLst>
          </p:cNvPr>
          <p:cNvSpPr txBox="1"/>
          <p:nvPr/>
        </p:nvSpPr>
        <p:spPr>
          <a:xfrm>
            <a:off x="5398814" y="5301600"/>
            <a:ext cx="13613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Receive Queue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06EE91-1A8A-1640-6F2D-EFFA855ABB8A}"/>
              </a:ext>
            </a:extLst>
          </p:cNvPr>
          <p:cNvSpPr txBox="1"/>
          <p:nvPr/>
        </p:nvSpPr>
        <p:spPr>
          <a:xfrm>
            <a:off x="5611821" y="4756774"/>
            <a:ext cx="1148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Send Queue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57CAE9-CD05-62E4-4E79-DFE1712C7E7B}"/>
              </a:ext>
            </a:extLst>
          </p:cNvPr>
          <p:cNvSpPr txBox="1"/>
          <p:nvPr/>
        </p:nvSpPr>
        <p:spPr>
          <a:xfrm>
            <a:off x="1824027" y="1732664"/>
            <a:ext cx="1279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application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9DEC64-AB4C-B562-C631-0CA7DED87C9B}"/>
              </a:ext>
            </a:extLst>
          </p:cNvPr>
          <p:cNvSpPr txBox="1"/>
          <p:nvPr/>
        </p:nvSpPr>
        <p:spPr>
          <a:xfrm>
            <a:off x="6326438" y="1724353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/>
              <a:t>host memory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D2A551-1D2A-09D6-3BF1-75491EBEC640}"/>
              </a:ext>
            </a:extLst>
          </p:cNvPr>
          <p:cNvSpPr/>
          <p:nvPr/>
        </p:nvSpPr>
        <p:spPr>
          <a:xfrm>
            <a:off x="5127622" y="2387472"/>
            <a:ext cx="1877092" cy="4478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E42EA7-94F9-FBEB-00A3-FDF604327300}"/>
              </a:ext>
            </a:extLst>
          </p:cNvPr>
          <p:cNvSpPr txBox="1"/>
          <p:nvPr/>
        </p:nvSpPr>
        <p:spPr>
          <a:xfrm>
            <a:off x="5557488" y="2101412"/>
            <a:ext cx="10285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Work Queue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54FAD6-95DD-B231-26F9-55C95A57C686}"/>
              </a:ext>
            </a:extLst>
          </p:cNvPr>
          <p:cNvSpPr/>
          <p:nvPr/>
        </p:nvSpPr>
        <p:spPr>
          <a:xfrm>
            <a:off x="6846709" y="4686761"/>
            <a:ext cx="1877092" cy="4478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D98D55-BEA7-10B2-A990-E3D4C42E9979}"/>
              </a:ext>
            </a:extLst>
          </p:cNvPr>
          <p:cNvSpPr/>
          <p:nvPr/>
        </p:nvSpPr>
        <p:spPr>
          <a:xfrm>
            <a:off x="6846709" y="5231587"/>
            <a:ext cx="1877092" cy="4478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51259FE0-8C29-D34F-44CA-2B08A99AF103}"/>
              </a:ext>
            </a:extLst>
          </p:cNvPr>
          <p:cNvSpPr/>
          <p:nvPr/>
        </p:nvSpPr>
        <p:spPr>
          <a:xfrm rot="10800000">
            <a:off x="5308743" y="4686761"/>
            <a:ext cx="139033" cy="992631"/>
          </a:xfrm>
          <a:prstGeom prst="rightBrac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5493D3-D935-9C76-1DD9-3D127F8A04D3}"/>
              </a:ext>
            </a:extLst>
          </p:cNvPr>
          <p:cNvSpPr/>
          <p:nvPr/>
        </p:nvSpPr>
        <p:spPr>
          <a:xfrm>
            <a:off x="1630578" y="1729875"/>
            <a:ext cx="1666672" cy="126867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E4A07B-77C6-5E4F-8EEA-8C340ACF3F5B}"/>
              </a:ext>
            </a:extLst>
          </p:cNvPr>
          <p:cNvSpPr/>
          <p:nvPr/>
        </p:nvSpPr>
        <p:spPr>
          <a:xfrm>
            <a:off x="4861908" y="1732664"/>
            <a:ext cx="4452573" cy="126867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1D8E43-B0EA-8D64-359F-C031F2FEFB48}"/>
              </a:ext>
            </a:extLst>
          </p:cNvPr>
          <p:cNvSpPr txBox="1"/>
          <p:nvPr/>
        </p:nvSpPr>
        <p:spPr>
          <a:xfrm>
            <a:off x="6069781" y="4165679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/>
              <a:t>RNIC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7F9526-152F-4F73-BA40-14ACAE809C0B}"/>
              </a:ext>
            </a:extLst>
          </p:cNvPr>
          <p:cNvSpPr/>
          <p:nvPr/>
        </p:nvSpPr>
        <p:spPr>
          <a:xfrm>
            <a:off x="3888115" y="4165679"/>
            <a:ext cx="5114441" cy="175305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A919B76-9280-E527-EE60-9D7AF02C0928}"/>
              </a:ext>
            </a:extLst>
          </p:cNvPr>
          <p:cNvSpPr/>
          <p:nvPr/>
        </p:nvSpPr>
        <p:spPr>
          <a:xfrm>
            <a:off x="7206555" y="2393728"/>
            <a:ext cx="1877092" cy="4478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7AC7821-08A0-F226-4C04-0D7C60C31A98}"/>
              </a:ext>
            </a:extLst>
          </p:cNvPr>
          <p:cNvSpPr txBox="1"/>
          <p:nvPr/>
        </p:nvSpPr>
        <p:spPr>
          <a:xfrm>
            <a:off x="7423589" y="2117451"/>
            <a:ext cx="1443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Completion Queue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9D7EFB-07B4-73BF-70DF-C56AB4A21DBC}"/>
              </a:ext>
            </a:extLst>
          </p:cNvPr>
          <p:cNvSpPr/>
          <p:nvPr/>
        </p:nvSpPr>
        <p:spPr>
          <a:xfrm>
            <a:off x="2090010" y="2239911"/>
            <a:ext cx="739036" cy="447803"/>
          </a:xfrm>
          <a:prstGeom prst="rect">
            <a:avLst/>
          </a:prstGeom>
          <a:solidFill>
            <a:srgbClr val="928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0D37E4-200B-9410-CF7E-BDC55BD4401F}"/>
              </a:ext>
            </a:extLst>
          </p:cNvPr>
          <p:cNvSpPr txBox="1"/>
          <p:nvPr/>
        </p:nvSpPr>
        <p:spPr>
          <a:xfrm>
            <a:off x="1954801" y="3198324"/>
            <a:ext cx="1018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B92E8F-FDD7-499D-70F8-A5F0CB45B934}"/>
              </a:ext>
            </a:extLst>
          </p:cNvPr>
          <p:cNvSpPr/>
          <p:nvPr/>
        </p:nvSpPr>
        <p:spPr>
          <a:xfrm>
            <a:off x="1630578" y="3195535"/>
            <a:ext cx="1666672" cy="126867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42704DD-C4E6-786A-EDDE-26263A751416}"/>
              </a:ext>
            </a:extLst>
          </p:cNvPr>
          <p:cNvSpPr/>
          <p:nvPr/>
        </p:nvSpPr>
        <p:spPr>
          <a:xfrm>
            <a:off x="1761878" y="3568131"/>
            <a:ext cx="1018227" cy="616973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850B120B-CDD8-3C9D-DAA4-F5CBF8167F0C}"/>
              </a:ext>
            </a:extLst>
          </p:cNvPr>
          <p:cNvCxnSpPr>
            <a:cxnSpLocks/>
            <a:stCxn id="26" idx="2"/>
            <a:endCxn id="24" idx="2"/>
          </p:cNvCxnSpPr>
          <p:nvPr/>
        </p:nvCxnSpPr>
        <p:spPr>
          <a:xfrm rot="5400000" flipH="1">
            <a:off x="4563609" y="1892488"/>
            <a:ext cx="1498057" cy="6083291"/>
          </a:xfrm>
          <a:prstGeom prst="curvedConnector3">
            <a:avLst>
              <a:gd name="adj1" fmla="val -55317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F272A34-94DD-7B1B-256D-E7B7A3D75483}"/>
              </a:ext>
            </a:extLst>
          </p:cNvPr>
          <p:cNvSpPr/>
          <p:nvPr/>
        </p:nvSpPr>
        <p:spPr>
          <a:xfrm>
            <a:off x="12452491" y="5231585"/>
            <a:ext cx="739036" cy="4478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CCD2AF-1E6E-5C9E-C9FF-2B9875D76883}"/>
              </a:ext>
            </a:extLst>
          </p:cNvPr>
          <p:cNvSpPr txBox="1"/>
          <p:nvPr/>
        </p:nvSpPr>
        <p:spPr>
          <a:xfrm>
            <a:off x="8217637" y="3474374"/>
            <a:ext cx="2456480" cy="338554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operation successful!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B9649C9-B488-9B81-BF1E-5B7AAE5E15E5}"/>
              </a:ext>
            </a:extLst>
          </p:cNvPr>
          <p:cNvCxnSpPr>
            <a:cxnSpLocks/>
            <a:stCxn id="30" idx="1"/>
            <a:endCxn id="21" idx="0"/>
          </p:cNvCxnSpPr>
          <p:nvPr/>
        </p:nvCxnSpPr>
        <p:spPr>
          <a:xfrm flipH="1">
            <a:off x="6445336" y="3643651"/>
            <a:ext cx="1772301" cy="522028"/>
          </a:xfrm>
          <a:prstGeom prst="straightConnector1">
            <a:avLst/>
          </a:prstGeom>
          <a:ln>
            <a:solidFill>
              <a:srgbClr val="00B050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F9EC6DD-B3C8-5671-6A2F-017CD8DF4D29}"/>
              </a:ext>
            </a:extLst>
          </p:cNvPr>
          <p:cNvCxnSpPr>
            <a:cxnSpLocks/>
            <a:stCxn id="30" idx="1"/>
          </p:cNvCxnSpPr>
          <p:nvPr/>
        </p:nvCxnSpPr>
        <p:spPr>
          <a:xfrm flipH="1" flipV="1">
            <a:off x="7605486" y="2835277"/>
            <a:ext cx="612151" cy="808374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DC56254B-BFB8-D23E-CC8F-100C6C665B02}"/>
              </a:ext>
            </a:extLst>
          </p:cNvPr>
          <p:cNvSpPr/>
          <p:nvPr/>
        </p:nvSpPr>
        <p:spPr>
          <a:xfrm>
            <a:off x="7984765" y="5235358"/>
            <a:ext cx="739036" cy="4478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558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7.40741E-7 L 0.4836 0.43565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180" y="21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3.7037E-7 L -0.3664 -0.00046 " pathEditMode="relative" rAng="0" ptsTypes="AA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320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664 -0.00046 C -0.37786 0.01273 -0.35586 0.04514 -0.37929 0.06806 C -0.40273 0.0912 -0.45586 0.12708 -0.5082 0.13796 C -0.56054 0.14861 -0.64635 0.15417 -0.69271 0.13287 C -0.76627 0.13125 -0.79635 0.03819 -0.82565 -0.01458 C -0.85508 -0.06759 -0.8625 -0.20278 -0.87239 -0.23032 " pathEditMode="relative" rAng="0" ptsTypes="AAAAAA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299" y="-40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animBg="1"/>
      <p:bldP spid="3" grpId="2" animBg="1"/>
      <p:bldP spid="23" grpId="0" animBg="1"/>
      <p:bldP spid="23" grpId="1" animBg="1"/>
      <p:bldP spid="3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9427D-97A4-E700-E5B4-D805889D6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FC658-3E56-5F89-831A-EEB869A61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receiver example (for two-sided)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675D64-5640-91D2-A4F6-1CA3A09D2524}"/>
              </a:ext>
            </a:extLst>
          </p:cNvPr>
          <p:cNvSpPr txBox="1"/>
          <p:nvPr/>
        </p:nvSpPr>
        <p:spPr>
          <a:xfrm>
            <a:off x="3996306" y="4998410"/>
            <a:ext cx="1299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Queue Pair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14EF8-A1F1-5B55-7760-6678E729FCBB}"/>
              </a:ext>
            </a:extLst>
          </p:cNvPr>
          <p:cNvSpPr txBox="1"/>
          <p:nvPr/>
        </p:nvSpPr>
        <p:spPr>
          <a:xfrm>
            <a:off x="5398814" y="5301600"/>
            <a:ext cx="13613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Receive Queue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4BD62A-EE6E-17B7-650B-0F977FF7CCBD}"/>
              </a:ext>
            </a:extLst>
          </p:cNvPr>
          <p:cNvSpPr txBox="1"/>
          <p:nvPr/>
        </p:nvSpPr>
        <p:spPr>
          <a:xfrm>
            <a:off x="5611821" y="4756774"/>
            <a:ext cx="1148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Send Queue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BE35C0-3F04-8951-546D-9C53FAD94002}"/>
              </a:ext>
            </a:extLst>
          </p:cNvPr>
          <p:cNvSpPr txBox="1"/>
          <p:nvPr/>
        </p:nvSpPr>
        <p:spPr>
          <a:xfrm>
            <a:off x="1824027" y="1732664"/>
            <a:ext cx="1279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application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70A24A-543E-0591-A17C-94819EB9E365}"/>
              </a:ext>
            </a:extLst>
          </p:cNvPr>
          <p:cNvSpPr txBox="1"/>
          <p:nvPr/>
        </p:nvSpPr>
        <p:spPr>
          <a:xfrm>
            <a:off x="6326438" y="1724353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/>
              <a:t>host memory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3D2F30-A8A1-3B4D-A4B8-8B6EC5006B16}"/>
              </a:ext>
            </a:extLst>
          </p:cNvPr>
          <p:cNvSpPr/>
          <p:nvPr/>
        </p:nvSpPr>
        <p:spPr>
          <a:xfrm>
            <a:off x="5127622" y="2387472"/>
            <a:ext cx="1877092" cy="4478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E04F1C-AB1C-2566-C0BB-AAB7A6DC6B70}"/>
              </a:ext>
            </a:extLst>
          </p:cNvPr>
          <p:cNvSpPr txBox="1"/>
          <p:nvPr/>
        </p:nvSpPr>
        <p:spPr>
          <a:xfrm>
            <a:off x="5557488" y="2101412"/>
            <a:ext cx="10285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Work Queue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E78F39-E380-C49E-AC6F-CEC842B73C76}"/>
              </a:ext>
            </a:extLst>
          </p:cNvPr>
          <p:cNvSpPr/>
          <p:nvPr/>
        </p:nvSpPr>
        <p:spPr>
          <a:xfrm>
            <a:off x="6846709" y="4686761"/>
            <a:ext cx="1877092" cy="4478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99E304-4894-D298-F3DD-214797A1F657}"/>
              </a:ext>
            </a:extLst>
          </p:cNvPr>
          <p:cNvSpPr/>
          <p:nvPr/>
        </p:nvSpPr>
        <p:spPr>
          <a:xfrm>
            <a:off x="6846709" y="5231587"/>
            <a:ext cx="1877092" cy="4478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059A8C2C-FF5B-6E2B-3DBF-3B813E7F8A0F}"/>
              </a:ext>
            </a:extLst>
          </p:cNvPr>
          <p:cNvSpPr/>
          <p:nvPr/>
        </p:nvSpPr>
        <p:spPr>
          <a:xfrm rot="10800000">
            <a:off x="5308743" y="4686761"/>
            <a:ext cx="139033" cy="992631"/>
          </a:xfrm>
          <a:prstGeom prst="rightBrac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15C7D5-7693-7290-82ED-08FE794B32EA}"/>
              </a:ext>
            </a:extLst>
          </p:cNvPr>
          <p:cNvSpPr/>
          <p:nvPr/>
        </p:nvSpPr>
        <p:spPr>
          <a:xfrm>
            <a:off x="1630578" y="1729875"/>
            <a:ext cx="1666672" cy="126867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544E07-C836-7FCB-0C40-ACF898B0AD75}"/>
              </a:ext>
            </a:extLst>
          </p:cNvPr>
          <p:cNvSpPr/>
          <p:nvPr/>
        </p:nvSpPr>
        <p:spPr>
          <a:xfrm>
            <a:off x="4861908" y="1732664"/>
            <a:ext cx="4452573" cy="126867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0D46D8-B38A-DA66-D112-565CC9FC4CE2}"/>
              </a:ext>
            </a:extLst>
          </p:cNvPr>
          <p:cNvSpPr txBox="1"/>
          <p:nvPr/>
        </p:nvSpPr>
        <p:spPr>
          <a:xfrm>
            <a:off x="6069781" y="4165679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/>
              <a:t>RNIC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26C328-7507-942F-9E73-65C11D1C057B}"/>
              </a:ext>
            </a:extLst>
          </p:cNvPr>
          <p:cNvSpPr/>
          <p:nvPr/>
        </p:nvSpPr>
        <p:spPr>
          <a:xfrm>
            <a:off x="3888115" y="4165679"/>
            <a:ext cx="5114441" cy="175305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FBE060F-1A40-C552-3F16-1806727C1D87}"/>
              </a:ext>
            </a:extLst>
          </p:cNvPr>
          <p:cNvSpPr/>
          <p:nvPr/>
        </p:nvSpPr>
        <p:spPr>
          <a:xfrm>
            <a:off x="7206555" y="2393728"/>
            <a:ext cx="1877092" cy="4478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6CC6972-2885-725F-FC29-BBBF17C2972D}"/>
              </a:ext>
            </a:extLst>
          </p:cNvPr>
          <p:cNvSpPr txBox="1"/>
          <p:nvPr/>
        </p:nvSpPr>
        <p:spPr>
          <a:xfrm>
            <a:off x="7423589" y="2117451"/>
            <a:ext cx="1443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Completion Queue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18C7C0-5BBD-A6D8-C0B2-AC92FBD57DB6}"/>
              </a:ext>
            </a:extLst>
          </p:cNvPr>
          <p:cNvSpPr txBox="1"/>
          <p:nvPr/>
        </p:nvSpPr>
        <p:spPr>
          <a:xfrm>
            <a:off x="8217637" y="3474374"/>
            <a:ext cx="2456480" cy="338554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operation successful!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AD0970-C8DA-34E6-DF07-0BAF91811F63}"/>
              </a:ext>
            </a:extLst>
          </p:cNvPr>
          <p:cNvSpPr txBox="1"/>
          <p:nvPr/>
        </p:nvSpPr>
        <p:spPr>
          <a:xfrm>
            <a:off x="1954801" y="3198324"/>
            <a:ext cx="1018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BFCA4F-1146-3706-B64F-FF11A40C60DD}"/>
              </a:ext>
            </a:extLst>
          </p:cNvPr>
          <p:cNvSpPr/>
          <p:nvPr/>
        </p:nvSpPr>
        <p:spPr>
          <a:xfrm>
            <a:off x="1630578" y="3195535"/>
            <a:ext cx="1666672" cy="126867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CEEC72C-E1C6-8B61-E23B-EEAA05733D15}"/>
              </a:ext>
            </a:extLst>
          </p:cNvPr>
          <p:cNvSpPr/>
          <p:nvPr/>
        </p:nvSpPr>
        <p:spPr>
          <a:xfrm>
            <a:off x="1824027" y="3662015"/>
            <a:ext cx="739036" cy="4478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878106C-4412-EC8A-84F6-1EE2C537051A}"/>
              </a:ext>
            </a:extLst>
          </p:cNvPr>
          <p:cNvSpPr/>
          <p:nvPr/>
        </p:nvSpPr>
        <p:spPr>
          <a:xfrm>
            <a:off x="1761878" y="3568131"/>
            <a:ext cx="1018227" cy="616973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C1A436A-E4A2-4D6E-3125-0CEA2A7E4C9C}"/>
              </a:ext>
            </a:extLst>
          </p:cNvPr>
          <p:cNvSpPr/>
          <p:nvPr/>
        </p:nvSpPr>
        <p:spPr>
          <a:xfrm>
            <a:off x="7206555" y="2393728"/>
            <a:ext cx="739036" cy="447803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CQE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559D0A4-40E5-1AB3-3360-EB8B10D2C586}"/>
              </a:ext>
            </a:extLst>
          </p:cNvPr>
          <p:cNvCxnSpPr>
            <a:cxnSpLocks/>
            <a:endCxn id="25" idx="2"/>
          </p:cNvCxnSpPr>
          <p:nvPr/>
        </p:nvCxnSpPr>
        <p:spPr>
          <a:xfrm flipH="1" flipV="1">
            <a:off x="7576073" y="2841531"/>
            <a:ext cx="641564" cy="8021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DA13625-C682-F5D4-28C0-EF8812F55F11}"/>
              </a:ext>
            </a:extLst>
          </p:cNvPr>
          <p:cNvSpPr txBox="1"/>
          <p:nvPr/>
        </p:nvSpPr>
        <p:spPr>
          <a:xfrm>
            <a:off x="8014025" y="3096945"/>
            <a:ext cx="12732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generate CQE</a:t>
            </a:r>
          </a:p>
        </p:txBody>
      </p:sp>
    </p:spTree>
    <p:extLst>
      <p:ext uri="{BB962C8B-B14F-4D97-AF65-F5344CB8AC3E}">
        <p14:creationId xmlns:p14="http://schemas.microsoft.com/office/powerpoint/2010/main" val="619649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44 0.0007 L -0.42434 -0.01921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289" y="-99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6E00F21-2EED-F411-6926-86EF252DB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857500"/>
            <a:ext cx="10972800" cy="1143000"/>
          </a:xfrm>
        </p:spPr>
        <p:txBody>
          <a:bodyPr/>
          <a:lstStyle/>
          <a:p>
            <a:r>
              <a:rPr lang="en-GB" dirty="0"/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1661960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8F1D7-9E33-872A-970F-7B456422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05795-A2ED-AC2E-0275-397CCD3B7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Infiniband</a:t>
            </a:r>
            <a:r>
              <a:rPr lang="en-US" noProof="0" dirty="0"/>
              <a:t> Verbs in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1575E-9640-5CC3-BD9A-F36E7F3F4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ibverbs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is the C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userspace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library in Linux 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provides access to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Infiniband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/RoCE and RNICs</a:t>
            </a:r>
          </a:p>
          <a:p>
            <a:r>
              <a:rPr lang="en-US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APIs to manage connections and resources from user applications</a:t>
            </a:r>
          </a:p>
          <a:p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py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verbs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is the Python wrapper of 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ibverbs</a:t>
            </a:r>
            <a:endParaRPr lang="en-US" b="0" i="0" u="none" strike="noStrike" dirty="0">
              <a:solidFill>
                <a:srgbClr val="000000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exposes the same set of APIs in a simplified manner</a:t>
            </a:r>
          </a:p>
          <a:p>
            <a:pPr lvl="1"/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ibverbs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is preferred for high performance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will use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py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verbs</a:t>
            </a:r>
            <a:r>
              <a:rPr lang="en-US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simplicity!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</a:t>
            </a:r>
            <a:endParaRPr lang="en-US" b="0" i="0" u="none" strike="noStrike" dirty="0">
              <a:solidFill>
                <a:srgbClr val="000000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710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8ECCA-44B8-FD68-03CB-85AA5FD6B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23CF0-0305-E9DB-4B12-986498CA4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Infiniband</a:t>
            </a:r>
            <a:r>
              <a:rPr lang="en-US" noProof="0" dirty="0"/>
              <a:t> connection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6E88E9-1864-E0A1-AD46-E9A5DC617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two peers need to establish an IB connection</a:t>
            </a:r>
          </a:p>
          <a:p>
            <a:pPr lvl="1"/>
            <a:r>
              <a:rPr lang="en-US" dirty="0"/>
              <a:t>different from a standard TCP/UDP socket</a:t>
            </a:r>
          </a:p>
          <a:p>
            <a:pPr lvl="1"/>
            <a:r>
              <a:rPr lang="en-US" dirty="0"/>
              <a:t>managed by the host CPU</a:t>
            </a:r>
          </a:p>
          <a:p>
            <a:r>
              <a:rPr lang="en-US" dirty="0"/>
              <a:t>requires an additional off-band mechanism (usually, TCP) to exchange connection information</a:t>
            </a:r>
          </a:p>
          <a:p>
            <a:r>
              <a:rPr lang="en-US" dirty="0"/>
              <a:t>once the connection is successfully initialized, Work Requests can be posted on Queue Pairs</a:t>
            </a:r>
          </a:p>
        </p:txBody>
      </p:sp>
    </p:spTree>
    <p:extLst>
      <p:ext uri="{BB962C8B-B14F-4D97-AF65-F5344CB8AC3E}">
        <p14:creationId xmlns:p14="http://schemas.microsoft.com/office/powerpoint/2010/main" val="4144583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5209D-B54C-7B19-94C5-48348D960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EFA09-0B4E-2030-F68D-3F433EEDA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Infiniband</a:t>
            </a:r>
            <a:r>
              <a:rPr lang="en-US" dirty="0"/>
              <a:t> connection lifecycle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B1169-8D09-01D9-1B04-A062CE3CB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off-band TCP connection with the remote peer</a:t>
            </a:r>
          </a:p>
          <a:p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memory registration</a:t>
            </a:r>
          </a:p>
          <a:p>
            <a:pPr lvl="1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allocate and register memory to be accessible by the RNIC</a:t>
            </a:r>
          </a:p>
          <a:p>
            <a:pPr lvl="1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generate 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memory keys (local key/remote key)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for access control</a:t>
            </a:r>
          </a:p>
          <a:p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Queue Pair (QP) creation and configuration</a:t>
            </a:r>
          </a:p>
          <a:p>
            <a:pPr lvl="1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 a QP and configure it to move in the RTS (Ready-to-Send) state</a:t>
            </a:r>
          </a:p>
          <a:p>
            <a:pPr lvl="1"/>
            <a:r>
              <a:rPr lang="en-US" sz="20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exchange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QP information (QP number, remote key) with the remote peer</a:t>
            </a:r>
          </a:p>
          <a:p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CQ polling thread creation</a:t>
            </a:r>
          </a:p>
          <a:p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request posting</a:t>
            </a:r>
          </a:p>
          <a:p>
            <a:pPr lvl="1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 operations (WR) to the WQ</a:t>
            </a:r>
          </a:p>
          <a:p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completion handling</a:t>
            </a:r>
          </a:p>
          <a:p>
            <a:pPr lvl="1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trigger application logic based on CQEs</a:t>
            </a:r>
          </a:p>
        </p:txBody>
      </p:sp>
    </p:spTree>
    <p:extLst>
      <p:ext uri="{BB962C8B-B14F-4D97-AF65-F5344CB8AC3E}">
        <p14:creationId xmlns:p14="http://schemas.microsoft.com/office/powerpoint/2010/main" val="7835931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ADE56-489C-E81E-AC70-02BA9F7B5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77281-C756-5BA7-4E86-79084ABFC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pre-flight check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E004B-FEC0-A694-4B79-D4DA126E4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1624337"/>
          </a:xfrm>
        </p:spPr>
        <p:txBody>
          <a:bodyPr/>
          <a:lstStyle/>
          <a:p>
            <a:r>
              <a:rPr lang="en-US" sz="2800" dirty="0"/>
              <a:t>verify that the requested device exists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27C4DD-0A2C-8074-9076-1C97D796846C}"/>
              </a:ext>
            </a:extLst>
          </p:cNvPr>
          <p:cNvSpPr txBox="1"/>
          <p:nvPr/>
        </p:nvSpPr>
        <p:spPr>
          <a:xfrm>
            <a:off x="609600" y="2804911"/>
            <a:ext cx="109728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devices_list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pyverbs.device.rdma_get_devices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found = False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for device in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devices_list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device_name_str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device.name.decode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('utf-8')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if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device_name_str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== "rxe0":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found = True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break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if not found: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print(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f"Interface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iface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} not found.", file=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sys.stderr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sys.exit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DD0E06-C782-D255-9CA7-F34CED116481}"/>
              </a:ext>
            </a:extLst>
          </p:cNvPr>
          <p:cNvSpPr txBox="1"/>
          <p:nvPr/>
        </p:nvSpPr>
        <p:spPr>
          <a:xfrm>
            <a:off x="8877555" y="2804911"/>
            <a:ext cx="234561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get all RDMA devices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8139FE9-0B75-9976-7734-A840797C29EA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6596743" y="2989577"/>
            <a:ext cx="228081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00AC0FD-AD6C-B763-3DCB-C0F704831ECC}"/>
              </a:ext>
            </a:extLst>
          </p:cNvPr>
          <p:cNvSpPr txBox="1"/>
          <p:nvPr/>
        </p:nvSpPr>
        <p:spPr>
          <a:xfrm>
            <a:off x="8877555" y="3743629"/>
            <a:ext cx="234561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iface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name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0EB6262-B698-4263-EDE0-F888A4530DB3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4234543" y="3928295"/>
            <a:ext cx="4643012" cy="232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6881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B158A-AEF2-6A17-A3F3-B0DA45A59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A4730-C105-B455-211A-82BBC1961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off-band TCP connection</a:t>
            </a:r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AF5006-2D1E-5BC7-7E66-DAA5356CEB30}"/>
              </a:ext>
            </a:extLst>
          </p:cNvPr>
          <p:cNvSpPr txBox="1"/>
          <p:nvPr/>
        </p:nvSpPr>
        <p:spPr>
          <a:xfrm>
            <a:off x="609600" y="2132539"/>
            <a:ext cx="10972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sock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socket.socket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socket.AF_INET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socket.SOCK_STREAM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try: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sock.connect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(("10.0.0.3", 18515))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except Exception as ex: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print("Error connecting to server:", ex, file=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sys.stderr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sys.exit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9119B8-A02E-F716-8B78-D1691CFE77E3}"/>
              </a:ext>
            </a:extLst>
          </p:cNvPr>
          <p:cNvSpPr txBox="1"/>
          <p:nvPr/>
        </p:nvSpPr>
        <p:spPr>
          <a:xfrm>
            <a:off x="7696201" y="2132539"/>
            <a:ext cx="42672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TCP socket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4646692-0D70-1580-030E-B8A8D5C4078F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6955971" y="2317205"/>
            <a:ext cx="7402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F29FA6-4ECD-1E06-CEFF-16484E6A6307}"/>
              </a:ext>
            </a:extLst>
          </p:cNvPr>
          <p:cNvSpPr txBox="1"/>
          <p:nvPr/>
        </p:nvSpPr>
        <p:spPr>
          <a:xfrm>
            <a:off x="7696202" y="2603165"/>
            <a:ext cx="42672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server address and port (chosen by us)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CDFB213-FB69-EF46-63D2-1B0605DA4E1D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5061858" y="2785419"/>
            <a:ext cx="2634344" cy="24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A9DADFA-6244-6BC2-28F3-3D7E1ED73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821533"/>
          </a:xfrm>
        </p:spPr>
        <p:txBody>
          <a:bodyPr/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client: TCP connection with the remote peer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2989A8-3A8E-C141-1096-581B2C6AE357}"/>
              </a:ext>
            </a:extLst>
          </p:cNvPr>
          <p:cNvSpPr txBox="1"/>
          <p:nvPr/>
        </p:nvSpPr>
        <p:spPr>
          <a:xfrm>
            <a:off x="609600" y="4509047"/>
            <a:ext cx="10972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server_sock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socket.socket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socket.AF_INET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socket.SOCK_STREAM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server_sock.bind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(('', 18515))</a:t>
            </a:r>
          </a:p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server_sock.listen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(1)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conn,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server_sock.accept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4906E6A3-48FD-706A-043A-2D9B9DFCD0B1}"/>
              </a:ext>
            </a:extLst>
          </p:cNvPr>
          <p:cNvSpPr txBox="1">
            <a:spLocks/>
          </p:cNvSpPr>
          <p:nvPr/>
        </p:nvSpPr>
        <p:spPr bwMode="auto">
          <a:xfrm>
            <a:off x="609600" y="3789285"/>
            <a:ext cx="10972800" cy="821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8" indent="-3429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69" indent="-28575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28" indent="-228606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66CC00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40" indent="-228606" algn="l" rtl="0" eaLnBrk="1" fontAlgn="base" hangingPunct="1">
              <a:spcBef>
                <a:spcPct val="200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4pPr>
            <a:lvl5pPr marL="2057452" indent="-228606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  <a:lvl6pPr marL="2514663" indent="-228606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6pPr>
            <a:lvl7pPr marL="2971874" indent="-228606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7pPr>
            <a:lvl8pPr marL="3429086" indent="-228606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8pPr>
            <a:lvl9pPr marL="3886297" indent="-228606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800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server: listens to TCP connections from remote peers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E4CE6A-5808-F669-C050-FE123A6DAC19}"/>
              </a:ext>
            </a:extLst>
          </p:cNvPr>
          <p:cNvSpPr txBox="1"/>
          <p:nvPr/>
        </p:nvSpPr>
        <p:spPr>
          <a:xfrm>
            <a:off x="7696201" y="4852320"/>
            <a:ext cx="42672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bind 0.0.0.0:18515 (chosen by us)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30D2AEC-B05E-0502-D2C3-A49619F02ABA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4484914" y="4984657"/>
            <a:ext cx="3211287" cy="523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C7DDD5D-F1E1-8852-FBCB-3D7AD607BF17}"/>
              </a:ext>
            </a:extLst>
          </p:cNvPr>
          <p:cNvSpPr txBox="1"/>
          <p:nvPr/>
        </p:nvSpPr>
        <p:spPr>
          <a:xfrm>
            <a:off x="7696201" y="5330580"/>
            <a:ext cx="42672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listen to max 1 connection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DB84EF4-209C-966C-0ABC-555BBD6083D6}"/>
              </a:ext>
            </a:extLst>
          </p:cNvPr>
          <p:cNvCxnSpPr>
            <a:cxnSpLocks/>
            <a:stCxn id="26" idx="1"/>
          </p:cNvCxnSpPr>
          <p:nvPr/>
        </p:nvCxnSpPr>
        <p:spPr>
          <a:xfrm flipH="1" flipV="1">
            <a:off x="3167743" y="5145914"/>
            <a:ext cx="4528458" cy="369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E628D29-40A0-B764-F30E-090A13633A00}"/>
              </a:ext>
            </a:extLst>
          </p:cNvPr>
          <p:cNvSpPr txBox="1"/>
          <p:nvPr/>
        </p:nvSpPr>
        <p:spPr>
          <a:xfrm>
            <a:off x="7696201" y="5825017"/>
            <a:ext cx="42672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accept connection from the client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A37ABA6-8D5A-699C-28DC-5F6CEF3474AD}"/>
              </a:ext>
            </a:extLst>
          </p:cNvPr>
          <p:cNvCxnSpPr>
            <a:cxnSpLocks/>
            <a:stCxn id="37" idx="1"/>
          </p:cNvCxnSpPr>
          <p:nvPr/>
        </p:nvCxnSpPr>
        <p:spPr>
          <a:xfrm flipH="1" flipV="1">
            <a:off x="4495800" y="5649686"/>
            <a:ext cx="3200401" cy="35999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6814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22" grpId="0" animBg="1"/>
      <p:bldP spid="26" grpId="0" animBg="1"/>
      <p:bldP spid="3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060DE-BBD4-A1E6-D379-5A7757A0E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D2A30-010F-3022-9ABE-7DF1150F0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memory registration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4168D-78AD-E4A4-C542-153B0D152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1732998"/>
          </a:xfrm>
        </p:spPr>
        <p:txBody>
          <a:bodyPr/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open a </a:t>
            </a:r>
            <a:r>
              <a:rPr lang="en-US" sz="28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context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with the RDMA device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used to allocate resources for the device (QP, memory, etc.)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register a 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Protection Domain (PD)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the context</a:t>
            </a:r>
          </a:p>
          <a:p>
            <a:pPr lvl="1"/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group of resources (QP, memory, etc.) that share access permissions</a:t>
            </a:r>
          </a:p>
          <a:p>
            <a:pPr lvl="1"/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isolation between different RDMA resources (of 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different processes)</a:t>
            </a:r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61F2F6-0637-3053-B640-B9E785AB66D7}"/>
              </a:ext>
            </a:extLst>
          </p:cNvPr>
          <p:cNvSpPr txBox="1"/>
          <p:nvPr/>
        </p:nvSpPr>
        <p:spPr>
          <a:xfrm>
            <a:off x="609600" y="4183339"/>
            <a:ext cx="109728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with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pyverbs.device.Context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(name="rxe0") as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with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pyverbs.pd.PD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 as pd: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pyverbs.mr.MR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pd,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4096,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IBV_ACCESS_LOCAL_WRITE | IBV_ACCESS_REMOTE_WRITE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D97ED0-EC07-5E8E-9CC3-AD0353A0F761}"/>
              </a:ext>
            </a:extLst>
          </p:cNvPr>
          <p:cNvSpPr txBox="1"/>
          <p:nvPr/>
        </p:nvSpPr>
        <p:spPr>
          <a:xfrm>
            <a:off x="6301988" y="4259998"/>
            <a:ext cx="234561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PD associated with the memory region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830932-F527-1DEB-061F-EA62EFCB0DAB}"/>
              </a:ext>
            </a:extLst>
          </p:cNvPr>
          <p:cNvSpPr txBox="1"/>
          <p:nvPr/>
        </p:nvSpPr>
        <p:spPr>
          <a:xfrm>
            <a:off x="5129180" y="5026144"/>
            <a:ext cx="234561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size in bytes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441113E-7ABB-19A2-47C2-3BC0397AD2AC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2000250" y="5210810"/>
            <a:ext cx="3128930" cy="14700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43ABE05-9C22-3885-A92E-2E551BCEEBB4}"/>
              </a:ext>
            </a:extLst>
          </p:cNvPr>
          <p:cNvSpPr txBox="1"/>
          <p:nvPr/>
        </p:nvSpPr>
        <p:spPr>
          <a:xfrm>
            <a:off x="3581400" y="6162482"/>
            <a:ext cx="6085114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access flags for this MR, local processes can write it, remote peers can write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8B7B886-BF91-4700-C40E-5F126147FCBB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5845629" y="5784151"/>
            <a:ext cx="778328" cy="378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28D4AD4A-74B9-FE43-1F51-FCF137CC3A19}"/>
              </a:ext>
            </a:extLst>
          </p:cNvPr>
          <p:cNvCxnSpPr>
            <a:cxnSpLocks/>
            <a:stCxn id="14" idx="1"/>
          </p:cNvCxnSpPr>
          <p:nvPr/>
        </p:nvCxnSpPr>
        <p:spPr>
          <a:xfrm rot="10800000" flipV="1">
            <a:off x="1851254" y="4583164"/>
            <a:ext cx="4450734" cy="547788"/>
          </a:xfrm>
          <a:prstGeom prst="curvedConnector3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0639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1" grpId="0" animBg="1"/>
      <p:bldP spid="1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06F03-214E-5486-41E5-2417D9FAA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88682-2932-605F-E944-3649A152E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QP creation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11A76-8B50-99F9-41E4-98A85631B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1732998"/>
          </a:xfrm>
        </p:spPr>
        <p:txBody>
          <a:bodyPr/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each QP needs a Completion Queue associated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first create the CQ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 the QP by configuring its capacity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B52318-4DB1-3A7D-2898-FF651E6525A0}"/>
              </a:ext>
            </a:extLst>
          </p:cNvPr>
          <p:cNvSpPr txBox="1"/>
          <p:nvPr/>
        </p:nvSpPr>
        <p:spPr>
          <a:xfrm>
            <a:off x="609600" y="2955716"/>
            <a:ext cx="109728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with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pyverbs.device.Context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(name="rxe0") as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66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... previous code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cq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pyverbs.cq.CQ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 10, None, None, 0)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qp_init_attr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pyverbs.qp.QPInitAttr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qp_type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=IBV_QPT_RC,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scq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cq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rcq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cq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cap=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pyverbs.qp.QPCap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max_send_wr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=8192,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max_recv_wr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=8192,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max_send_sge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=32,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max_recv_sge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=32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)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)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qp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pyverbs.qp.QP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(pd,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qp_init_attr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7E1DF9-BFCA-C08F-0A12-14DC506D9ACD}"/>
              </a:ext>
            </a:extLst>
          </p:cNvPr>
          <p:cNvSpPr txBox="1"/>
          <p:nvPr/>
        </p:nvSpPr>
        <p:spPr>
          <a:xfrm>
            <a:off x="8011886" y="2778423"/>
            <a:ext cx="4082143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CQ capacity, it can contain 10 CQEs (that need to be consumed!)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831FEEA-DBCA-89D3-48DA-1EBEBF82F3D6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3690257" y="3101589"/>
            <a:ext cx="4321629" cy="36499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8049D21-7224-338A-B7CE-DC97E97F57A5}"/>
              </a:ext>
            </a:extLst>
          </p:cNvPr>
          <p:cNvSpPr txBox="1"/>
          <p:nvPr/>
        </p:nvSpPr>
        <p:spPr>
          <a:xfrm>
            <a:off x="8011886" y="3747919"/>
            <a:ext cx="4082143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 of QP, RC=Reliable Connection supports all the verbs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1FCC5E6-DC44-DC10-83FB-923F1427D91B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4898571" y="4068726"/>
            <a:ext cx="3113315" cy="23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1B2035D-FC59-11A9-E3FF-1B8E1F28DE76}"/>
              </a:ext>
            </a:extLst>
          </p:cNvPr>
          <p:cNvSpPr txBox="1"/>
          <p:nvPr/>
        </p:nvSpPr>
        <p:spPr>
          <a:xfrm>
            <a:off x="8011886" y="4457644"/>
            <a:ext cx="4082143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CQ associated with the QP (both for Send and Receive queues)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DBE69B4-EE2D-8C84-4503-76C33898AB02}"/>
              </a:ext>
            </a:extLst>
          </p:cNvPr>
          <p:cNvCxnSpPr>
            <a:cxnSpLocks/>
            <a:stCxn id="25" idx="1"/>
          </p:cNvCxnSpPr>
          <p:nvPr/>
        </p:nvCxnSpPr>
        <p:spPr>
          <a:xfrm flipH="1" flipV="1">
            <a:off x="2024743" y="4365171"/>
            <a:ext cx="5987143" cy="4156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EDBAD7D-43D4-745C-AC3F-200F5E64F2F7}"/>
              </a:ext>
            </a:extLst>
          </p:cNvPr>
          <p:cNvCxnSpPr>
            <a:cxnSpLocks/>
            <a:stCxn id="25" idx="1"/>
          </p:cNvCxnSpPr>
          <p:nvPr/>
        </p:nvCxnSpPr>
        <p:spPr>
          <a:xfrm flipH="1" flipV="1">
            <a:off x="1992086" y="4604657"/>
            <a:ext cx="6019800" cy="17615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DF83BD4-2578-8E0B-5C47-935EBE0DEDE8}"/>
              </a:ext>
            </a:extLst>
          </p:cNvPr>
          <p:cNvSpPr txBox="1"/>
          <p:nvPr/>
        </p:nvSpPr>
        <p:spPr>
          <a:xfrm>
            <a:off x="8011885" y="5167369"/>
            <a:ext cx="4082143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max WRs that can be posted on Send and Receive queues, respectively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E151B21-632D-F985-2321-C511F91A3F55}"/>
              </a:ext>
            </a:extLst>
          </p:cNvPr>
          <p:cNvSpPr txBox="1"/>
          <p:nvPr/>
        </p:nvSpPr>
        <p:spPr>
          <a:xfrm>
            <a:off x="8011884" y="5877094"/>
            <a:ext cx="4082143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max SGEs (explained later) that can be posted on Send and Receive queues, respectively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EB069CC-6AA3-5467-2F0E-FC631825FEB4}"/>
              </a:ext>
            </a:extLst>
          </p:cNvPr>
          <p:cNvCxnSpPr>
            <a:cxnSpLocks/>
            <a:stCxn id="32" idx="1"/>
          </p:cNvCxnSpPr>
          <p:nvPr/>
        </p:nvCxnSpPr>
        <p:spPr>
          <a:xfrm flipH="1" flipV="1">
            <a:off x="3298371" y="5061857"/>
            <a:ext cx="4713514" cy="4286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944B9DC-0509-6291-1A19-32A80BCF3DFF}"/>
              </a:ext>
            </a:extLst>
          </p:cNvPr>
          <p:cNvCxnSpPr>
            <a:cxnSpLocks/>
            <a:stCxn id="32" idx="1"/>
          </p:cNvCxnSpPr>
          <p:nvPr/>
        </p:nvCxnSpPr>
        <p:spPr>
          <a:xfrm flipH="1" flipV="1">
            <a:off x="3331029" y="5323114"/>
            <a:ext cx="4680856" cy="1674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ABD307D-DBF2-F0FE-E1EB-DE4B823D1B5E}"/>
              </a:ext>
            </a:extLst>
          </p:cNvPr>
          <p:cNvCxnSpPr>
            <a:cxnSpLocks/>
            <a:stCxn id="33" idx="1"/>
          </p:cNvCxnSpPr>
          <p:nvPr/>
        </p:nvCxnSpPr>
        <p:spPr>
          <a:xfrm flipH="1" flipV="1">
            <a:off x="3233057" y="5562600"/>
            <a:ext cx="4778827" cy="7761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8A42BB8-7A31-4EE5-AD3F-B0DD9FE13A77}"/>
              </a:ext>
            </a:extLst>
          </p:cNvPr>
          <p:cNvCxnSpPr>
            <a:cxnSpLocks/>
            <a:stCxn id="33" idx="1"/>
          </p:cNvCxnSpPr>
          <p:nvPr/>
        </p:nvCxnSpPr>
        <p:spPr>
          <a:xfrm flipH="1" flipV="1">
            <a:off x="3178629" y="5812971"/>
            <a:ext cx="4833255" cy="52578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4936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25" grpId="0" animBg="1"/>
      <p:bldP spid="32" grpId="0" animBg="1"/>
      <p:bldP spid="3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E1EBF-6A3E-0D91-2030-ABEA0162C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EDCA2-002E-094F-CDA5-390CADFAD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QP configuration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EE63B-8FD2-3914-4A1E-B5AC23DAE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1732998"/>
          </a:xfrm>
        </p:spPr>
        <p:txBody>
          <a:bodyPr/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QP is created into the RESET state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need to configure to bring its state into RTS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first transition is RESET-&gt;INIT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5FD44C-294F-40FF-3225-D854F3F4878B}"/>
              </a:ext>
            </a:extLst>
          </p:cNvPr>
          <p:cNvSpPr txBox="1"/>
          <p:nvPr/>
        </p:nvSpPr>
        <p:spPr>
          <a:xfrm>
            <a:off x="609600" y="2977488"/>
            <a:ext cx="109728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with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pyverbs.device.Context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(name="rxe0") as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66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... previous code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init_attr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pyverbs.qp.QPAttr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qp_state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=IBV_QPS_INIT,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port_num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=1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)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init_attr.pkey_index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0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init_attr.qp_access_flags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i="0" u="none" strike="noStrike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IBV_ACCESS_REMOTE_WRITE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qp.modify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init_attr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 IBV_QP_STATE | IBV_QP_PKEY_INDEX | IBV_QP_PORT | IBV_QP_ACCESS_FLAGS)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AF997C-E597-EDF8-0557-4F69A24CF861}"/>
              </a:ext>
            </a:extLst>
          </p:cNvPr>
          <p:cNvSpPr txBox="1"/>
          <p:nvPr/>
        </p:nvSpPr>
        <p:spPr>
          <a:xfrm>
            <a:off x="7554688" y="2778423"/>
            <a:ext cx="453934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state to transition into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8C552E3-8D05-66DB-5096-BCA30D1504ED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4014788" y="2963089"/>
            <a:ext cx="3539900" cy="9155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C682FA6-CDE2-CE47-E5EC-F9EB345B0E89}"/>
              </a:ext>
            </a:extLst>
          </p:cNvPr>
          <p:cNvSpPr txBox="1"/>
          <p:nvPr/>
        </p:nvSpPr>
        <p:spPr>
          <a:xfrm>
            <a:off x="7554688" y="3555457"/>
            <a:ext cx="455022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a device has multiple ports, which one to use, in this case we have only 1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882D796-4AB4-BB28-0719-37019601FE5D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2351314" y="3878623"/>
            <a:ext cx="5203374" cy="2293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D75AED1-98C5-3CFB-9C8F-AF6186D4BF63}"/>
              </a:ext>
            </a:extLst>
          </p:cNvPr>
          <p:cNvSpPr txBox="1"/>
          <p:nvPr/>
        </p:nvSpPr>
        <p:spPr>
          <a:xfrm>
            <a:off x="7543800" y="4305335"/>
            <a:ext cx="455022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partition keys table for this QP, leave 0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B6A67E8-D67B-FE88-5BF5-99D9864AA775}"/>
              </a:ext>
            </a:extLst>
          </p:cNvPr>
          <p:cNvCxnSpPr>
            <a:cxnSpLocks/>
            <a:stCxn id="25" idx="1"/>
          </p:cNvCxnSpPr>
          <p:nvPr/>
        </p:nvCxnSpPr>
        <p:spPr>
          <a:xfrm flipH="1">
            <a:off x="3701143" y="4490001"/>
            <a:ext cx="3842657" cy="12554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0EB22F2-CB41-F9CA-A29C-311C9F57E58C}"/>
              </a:ext>
            </a:extLst>
          </p:cNvPr>
          <p:cNvSpPr txBox="1"/>
          <p:nvPr/>
        </p:nvSpPr>
        <p:spPr>
          <a:xfrm>
            <a:off x="7543800" y="4808644"/>
            <a:ext cx="455022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chooses which remote operations are allowed on the QP, default (0) is only local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BAA6D24-518E-75F1-1048-32F583FA084B}"/>
              </a:ext>
            </a:extLst>
          </p:cNvPr>
          <p:cNvCxnSpPr>
            <a:cxnSpLocks/>
            <a:stCxn id="32" idx="1"/>
          </p:cNvCxnSpPr>
          <p:nvPr/>
        </p:nvCxnSpPr>
        <p:spPr>
          <a:xfrm flipH="1" flipV="1">
            <a:off x="5529263" y="5056686"/>
            <a:ext cx="2014537" cy="751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B4D7BFD-4E70-4EC2-3718-33F530C6DF14}"/>
              </a:ext>
            </a:extLst>
          </p:cNvPr>
          <p:cNvSpPr txBox="1"/>
          <p:nvPr/>
        </p:nvSpPr>
        <p:spPr>
          <a:xfrm>
            <a:off x="7543800" y="6061832"/>
            <a:ext cx="455022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fields we are modifying on the QP (the ones required by the INIT transition)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394D2A2-1B95-2938-CAAA-CD59DB0C9158}"/>
              </a:ext>
            </a:extLst>
          </p:cNvPr>
          <p:cNvCxnSpPr>
            <a:cxnSpLocks/>
            <a:stCxn id="30" idx="1"/>
          </p:cNvCxnSpPr>
          <p:nvPr/>
        </p:nvCxnSpPr>
        <p:spPr>
          <a:xfrm flipH="1" flipV="1">
            <a:off x="5186363" y="6061832"/>
            <a:ext cx="2357437" cy="3231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3240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25" grpId="0" animBg="1"/>
      <p:bldP spid="32" grpId="0" animBg="1"/>
      <p:bldP spid="3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A1E4F-A856-FC52-B4E8-20EA7A3BD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AD0FE-3BFE-A299-BFAB-427D44448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QP configuration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1FD3C-EFDA-2724-8C67-29CB81783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6"/>
            <a:ext cx="10972800" cy="4911823"/>
          </a:xfrm>
        </p:spPr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next transition is INIT-&gt;RTR (Ready-To-Receive)</a:t>
            </a:r>
          </a:p>
          <a:p>
            <a:pPr lv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client needs to receive remote peer QP information to transition</a:t>
            </a:r>
          </a:p>
          <a:p>
            <a:pPr lv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remote peer needs our QP information to transition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will send</a:t>
            </a:r>
          </a:p>
          <a:p>
            <a:pPr lv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QP number: identifier of the QP, automatically assigned</a:t>
            </a:r>
          </a:p>
          <a:p>
            <a:pPr lvl="1"/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rkey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auth key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that remote peer uses to access our memory</a:t>
            </a:r>
          </a:p>
          <a:p>
            <a:pPr lv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MR address: the starting address of our buffer</a:t>
            </a:r>
          </a:p>
          <a:p>
            <a:pPr lv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local interface GID: in RoCEv2 is the local interface IP</a:t>
            </a:r>
          </a:p>
        </p:txBody>
      </p:sp>
    </p:spTree>
    <p:extLst>
      <p:ext uri="{BB962C8B-B14F-4D97-AF65-F5344CB8AC3E}">
        <p14:creationId xmlns:p14="http://schemas.microsoft.com/office/powerpoint/2010/main" val="19483742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BFD2D-14AA-A3C5-3DFC-7615A5E63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B2B88-DC0C-3271-B918-86B16FF8B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QP configuration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3D31C-47B0-425F-C4DE-F69FBB8B1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692082"/>
          </a:xfrm>
        </p:spPr>
        <p:txBody>
          <a:bodyPr/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receive remote peer QP information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6858D5-3CAE-95FA-8385-684999F468B0}"/>
              </a:ext>
            </a:extLst>
          </p:cNvPr>
          <p:cNvSpPr txBox="1"/>
          <p:nvPr/>
        </p:nvSpPr>
        <p:spPr>
          <a:xfrm>
            <a:off x="609600" y="4403517"/>
            <a:ext cx="109728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with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pyverbs.device.Context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(name="rxe0") as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66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... previous code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remote_data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recvn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(sock,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ctypes.sizeof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QpConnectionData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if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remote_data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 !=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ctypes.sizeof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QpConnectionData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print("Error receiving connection info from server", file=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sys.stderr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sys.exit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(1)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remote_con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QpConnectionData.from_buffer_copy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remote_data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203A71-7B90-B813-7CF1-41FECD349DB7}"/>
              </a:ext>
            </a:extLst>
          </p:cNvPr>
          <p:cNvSpPr txBox="1"/>
          <p:nvPr/>
        </p:nvSpPr>
        <p:spPr>
          <a:xfrm>
            <a:off x="609600" y="2071150"/>
            <a:ext cx="579517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66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at the beginning of the Python script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QpConnectionData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ctypes.BigEndianStructure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_pack_ = 1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_fields_ = [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('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qp_num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', ctypes.c_uint32),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('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rkey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',   ctypes.c_uint32),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('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',   ctypes.c_uint64),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('gid',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ctypes.c_ubyte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* 16)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672FB7-ADEB-6E5D-66F2-3C6176FFBAB6}"/>
              </a:ext>
            </a:extLst>
          </p:cNvPr>
          <p:cNvSpPr txBox="1"/>
          <p:nvPr/>
        </p:nvSpPr>
        <p:spPr>
          <a:xfrm>
            <a:off x="7652660" y="2071150"/>
            <a:ext cx="426719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Python serializable data structure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A728774-7CC4-5327-4531-FBF97EABE15A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6324600" y="2255816"/>
            <a:ext cx="1328060" cy="14992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54E1B2F-B49C-13AA-5AD2-94ECE6F75F7F}"/>
              </a:ext>
            </a:extLst>
          </p:cNvPr>
          <p:cNvSpPr txBox="1"/>
          <p:nvPr/>
        </p:nvSpPr>
        <p:spPr>
          <a:xfrm>
            <a:off x="7652660" y="4530431"/>
            <a:ext cx="426719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receive from remote and check integrity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5ACF1DE-5348-CC5A-2523-CBA79A2FFAFA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6553200" y="4715097"/>
            <a:ext cx="1099460" cy="18347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73D7095-5858-B262-5D20-734FBAFE6130}"/>
              </a:ext>
            </a:extLst>
          </p:cNvPr>
          <p:cNvSpPr txBox="1"/>
          <p:nvPr/>
        </p:nvSpPr>
        <p:spPr>
          <a:xfrm>
            <a:off x="7652660" y="6219399"/>
            <a:ext cx="426719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deserialize bytes into the data structure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3BB0A60-2A57-3AE5-2997-B95C73AA39B8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5290457" y="6219399"/>
            <a:ext cx="2362203" cy="1846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36880AA-FAD2-9697-3D54-C306B41BB67B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7347859" y="4715097"/>
            <a:ext cx="304801" cy="6759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481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F63F5-30CE-9326-8D91-DBCAED528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3CF93-7F69-CE90-AD38-0C3669648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QP configuration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026CE-2752-044A-B235-00FFC7D80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692082"/>
          </a:xfrm>
        </p:spPr>
        <p:txBody>
          <a:bodyPr/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send local QP information to remote peer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F27F6B-9267-4F06-F70D-3C680B34A152}"/>
              </a:ext>
            </a:extLst>
          </p:cNvPr>
          <p:cNvSpPr txBox="1"/>
          <p:nvPr/>
        </p:nvSpPr>
        <p:spPr>
          <a:xfrm>
            <a:off x="609600" y="2054296"/>
            <a:ext cx="109728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with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pyverbs.device.Context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(name="rxe0") as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66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... previous code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local_gid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ctx.query_gid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port_num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=1, index=1)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byte_gid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ipaddress.ip_address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local_gid.gid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).packed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local_con_obj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QpConnectionData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local_con_obj.qp_num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qp.qp_num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local_con_obj.rkey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mr.rkey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local_con_obj.addr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mr.buf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local_con_obj.gid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[:]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byte_gid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sock.sendall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(bytes(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local_con_obj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A2451D-A98B-0CE2-AC62-109843AE067C}"/>
              </a:ext>
            </a:extLst>
          </p:cNvPr>
          <p:cNvSpPr txBox="1"/>
          <p:nvPr/>
        </p:nvSpPr>
        <p:spPr>
          <a:xfrm>
            <a:off x="7652660" y="1943986"/>
            <a:ext cx="4267198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get the GID from port=1, index is the GID we want to get, in the lab 0 is the IB GID, 1 is the RoCEv2 GID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88DA3FB-036B-5858-5C21-C14FABF35BDE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6096000" y="2405651"/>
            <a:ext cx="1556660" cy="2954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BCC9AFF-8C0A-1615-37F9-652D1DBB2F0A}"/>
              </a:ext>
            </a:extLst>
          </p:cNvPr>
          <p:cNvSpPr txBox="1"/>
          <p:nvPr/>
        </p:nvSpPr>
        <p:spPr>
          <a:xfrm>
            <a:off x="7652660" y="3244334"/>
            <a:ext cx="426719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local_gid.gid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a string, convert to bytes for serialization using </a:t>
            </a:r>
            <a:r>
              <a:rPr lang="en-GB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ipaddress</a:t>
            </a:r>
            <a:endParaRPr lang="en-GB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DA3A71A-9E4D-8C06-80DB-7662DBB13EDD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5290457" y="3168108"/>
            <a:ext cx="2362203" cy="39939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ight Brace 13">
            <a:extLst>
              <a:ext uri="{FF2B5EF4-FFF2-40B4-BE49-F238E27FC236}">
                <a16:creationId xmlns:a16="http://schemas.microsoft.com/office/drawing/2014/main" id="{42E6F0E5-CE9E-FC9D-819E-33E9EF1133D1}"/>
              </a:ext>
            </a:extLst>
          </p:cNvPr>
          <p:cNvSpPr/>
          <p:nvPr/>
        </p:nvSpPr>
        <p:spPr>
          <a:xfrm>
            <a:off x="5161243" y="3868292"/>
            <a:ext cx="215153" cy="1190596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524024-D73A-8FD7-95BE-C97058E9E741}"/>
              </a:ext>
            </a:extLst>
          </p:cNvPr>
          <p:cNvSpPr txBox="1"/>
          <p:nvPr/>
        </p:nvSpPr>
        <p:spPr>
          <a:xfrm>
            <a:off x="7636023" y="4187343"/>
            <a:ext cx="428383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 and populate the data structure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5A015B1-4029-EED8-F270-F0E27783AFB5}"/>
              </a:ext>
            </a:extLst>
          </p:cNvPr>
          <p:cNvCxnSpPr>
            <a:cxnSpLocks/>
            <a:stCxn id="15" idx="1"/>
            <a:endCxn id="14" idx="1"/>
          </p:cNvCxnSpPr>
          <p:nvPr/>
        </p:nvCxnSpPr>
        <p:spPr>
          <a:xfrm flipH="1">
            <a:off x="5376396" y="4372009"/>
            <a:ext cx="2259627" cy="915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31AAB21-D174-A2B3-F485-6CD145C979F3}"/>
              </a:ext>
            </a:extLst>
          </p:cNvPr>
          <p:cNvSpPr txBox="1"/>
          <p:nvPr/>
        </p:nvSpPr>
        <p:spPr>
          <a:xfrm>
            <a:off x="7636023" y="5230840"/>
            <a:ext cx="4283835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serialize it (calling </a:t>
            </a:r>
            <a:r>
              <a:rPr lang="en-GB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bytes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and send to remote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7C90B38-F87A-CAC3-AA97-F9D2D0434F59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4822371" y="5415506"/>
            <a:ext cx="2813652" cy="1385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787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4" grpId="0" animBg="1"/>
      <p:bldP spid="15" grpId="0" animBg="1"/>
      <p:bldP spid="2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96C4E-B113-DF33-915C-D19A6F355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6CEFD-75AD-7E56-B019-99E3F28D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QP configuration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EC82B-70CB-6798-6E36-46D788A6A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692082"/>
          </a:xfrm>
        </p:spPr>
        <p:txBody>
          <a:bodyPr/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prepare and perform INIT-&gt;RTR transition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895E00-707B-E39B-8099-DA222DDB05A6}"/>
              </a:ext>
            </a:extLst>
          </p:cNvPr>
          <p:cNvSpPr txBox="1"/>
          <p:nvPr/>
        </p:nvSpPr>
        <p:spPr>
          <a:xfrm>
            <a:off x="609600" y="2054296"/>
            <a:ext cx="109728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with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pyverbs.device.Context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(name="rxe0") as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66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... previous code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rtr_attr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pyverbs.qp.QPAttr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qp_state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=IBV_QPS_RTR,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path_mtu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=IBV_MTU_1024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)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rtr_attr.dest_qp_num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remote_con.qp_num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rtr_attr.rq_psn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0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rtr_attr.max_dest_rd_atomic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1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rtr_attr.min_rnr_timer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31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8199DA-4772-B802-0880-26A9AFA41A25}"/>
              </a:ext>
            </a:extLst>
          </p:cNvPr>
          <p:cNvSpPr txBox="1"/>
          <p:nvPr/>
        </p:nvSpPr>
        <p:spPr>
          <a:xfrm>
            <a:off x="7380517" y="2797271"/>
            <a:ext cx="4539341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maximum payload size between the two QPs, different from the physical MTU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2FDDC08-0657-6572-A64A-79AF348CB4A5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3786188" y="3120437"/>
            <a:ext cx="3594329" cy="473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A461724-32C2-F731-DB8B-85E049A81E6C}"/>
              </a:ext>
            </a:extLst>
          </p:cNvPr>
          <p:cNvSpPr txBox="1"/>
          <p:nvPr/>
        </p:nvSpPr>
        <p:spPr>
          <a:xfrm>
            <a:off x="7397154" y="3576271"/>
            <a:ext cx="4539341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remote QP to connect to, received from the socket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FC92F7B-5054-5B33-8E0E-ED70A98C9421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5497286" y="3690257"/>
            <a:ext cx="1899868" cy="2091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4D7546D-EF2D-FF82-580A-73AEC6B7A0E0}"/>
              </a:ext>
            </a:extLst>
          </p:cNvPr>
          <p:cNvSpPr txBox="1"/>
          <p:nvPr/>
        </p:nvSpPr>
        <p:spPr>
          <a:xfrm>
            <a:off x="7397154" y="4336588"/>
            <a:ext cx="453934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remote starting PSN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FFC6137-95DD-D6A5-5E89-B243373201E2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4343400" y="3918857"/>
            <a:ext cx="3053754" cy="60239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953F3A8-9653-85AE-CF1F-1827074512E5}"/>
              </a:ext>
            </a:extLst>
          </p:cNvPr>
          <p:cNvSpPr txBox="1"/>
          <p:nvPr/>
        </p:nvSpPr>
        <p:spPr>
          <a:xfrm>
            <a:off x="7380517" y="1965154"/>
            <a:ext cx="453934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state to transition into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FCEADC8-9AF8-8B50-84F1-5352CF726E79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3786188" y="2149820"/>
            <a:ext cx="3594329" cy="7893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D75470B-0539-C225-D33A-B5009AC3A75D}"/>
              </a:ext>
            </a:extLst>
          </p:cNvPr>
          <p:cNvSpPr txBox="1"/>
          <p:nvPr/>
        </p:nvSpPr>
        <p:spPr>
          <a:xfrm>
            <a:off x="7397154" y="4837088"/>
            <a:ext cx="4539341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max RDMA reads (or atomic operations) that this QP can handle as a receiver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1753203-2EE7-FACB-DF12-8588A246A921}"/>
              </a:ext>
            </a:extLst>
          </p:cNvPr>
          <p:cNvCxnSpPr>
            <a:cxnSpLocks/>
            <a:stCxn id="28" idx="1"/>
          </p:cNvCxnSpPr>
          <p:nvPr/>
        </p:nvCxnSpPr>
        <p:spPr>
          <a:xfrm flipH="1" flipV="1">
            <a:off x="4495800" y="4169229"/>
            <a:ext cx="2901354" cy="9910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8A1BFBD-B3A2-1050-EDC2-F7A02573222D}"/>
                  </a:ext>
                </a:extLst>
              </p:cNvPr>
              <p:cNvSpPr txBox="1"/>
              <p:nvPr/>
            </p:nvSpPr>
            <p:spPr>
              <a:xfrm>
                <a:off x="7397154" y="5650119"/>
                <a:ext cx="4539341" cy="6463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max NAK timer, the value 31 corresponds to 491.52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 panose="020B0604030504040204" pitchFamily="34" charset="0"/>
                      </a:rPr>
                      <m:t>𝜇</m:t>
                    </m:r>
                  </m:oMath>
                </a14:m>
                <a:r>
                  <a:rPr lang="en-GB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 (mapping is available in docs)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8A1BFBD-B3A2-1050-EDC2-F7A0257322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7154" y="5650119"/>
                <a:ext cx="4539341" cy="646331"/>
              </a:xfrm>
              <a:prstGeom prst="rect">
                <a:avLst/>
              </a:prstGeom>
              <a:blipFill>
                <a:blip r:embed="rId3"/>
                <a:stretch>
                  <a:fillRect l="-833" t="-3774" b="-1132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123389C-EE7E-7BA1-19CE-16B51781C0DE}"/>
              </a:ext>
            </a:extLst>
          </p:cNvPr>
          <p:cNvCxnSpPr>
            <a:cxnSpLocks/>
            <a:stCxn id="32" idx="1"/>
          </p:cNvCxnSpPr>
          <p:nvPr/>
        </p:nvCxnSpPr>
        <p:spPr>
          <a:xfrm flipH="1" flipV="1">
            <a:off x="4038600" y="4386943"/>
            <a:ext cx="3358554" cy="158634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394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 animBg="1"/>
      <p:bldP spid="22" grpId="0" animBg="1"/>
      <p:bldP spid="4" grpId="0" animBg="1"/>
      <p:bldP spid="28" grpId="0" animBg="1"/>
      <p:bldP spid="3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D7D3D-9A2E-2913-80BF-22D9AB4AC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E75E9-E50C-684D-2E5D-36E405454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QP configuration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BF44F-D337-F1C4-D2E1-81964EF15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692082"/>
          </a:xfrm>
        </p:spPr>
        <p:txBody>
          <a:bodyPr/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prepare and perform INIT-&gt;RTR transition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7EBC75-9C73-CA39-A590-D7546626691A}"/>
              </a:ext>
            </a:extLst>
          </p:cNvPr>
          <p:cNvSpPr txBox="1"/>
          <p:nvPr/>
        </p:nvSpPr>
        <p:spPr>
          <a:xfrm>
            <a:off x="609600" y="2054296"/>
            <a:ext cx="109728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with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pyverbs.device.Context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(name="rxe0") as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66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... previous code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remote_gid_str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ipaddress.ip_address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(bytes(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remote_con.gid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)).exploded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gr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pyverbs.addr.GlobalRoute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dgid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pyverbs.addr.GID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remote_gid_str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),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sgid_index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=1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)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ah_attr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pyverbs.addr.AHAttr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gr=gr,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is_global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=1,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port_num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=1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)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rtr_attr.ah_attr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ah_attr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qp.modify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rtr_attr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 IBV_QP_STATE | IBV_QP_PATH_MTU | IBV_QP_DEST_QPN | IBV_QP_RQ_PSN | IBV_QP_MAX_DEST_RD_ATOMIC | IBV_QP_MIN_RNR_TIMER | IBV_QP_AV)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814C7C-4B4C-BFA9-3B9B-E31D72C876CE}"/>
              </a:ext>
            </a:extLst>
          </p:cNvPr>
          <p:cNvSpPr txBox="1"/>
          <p:nvPr/>
        </p:nvSpPr>
        <p:spPr>
          <a:xfrm>
            <a:off x="7826830" y="1881219"/>
            <a:ext cx="426719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remote_con.gid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are bytes, convert to string using </a:t>
            </a:r>
            <a:r>
              <a:rPr lang="en-GB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ipaddress</a:t>
            </a:r>
            <a:endParaRPr lang="en-GB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F161817-825B-21B8-5A85-740CDB328E61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6259286" y="2204385"/>
            <a:ext cx="1567544" cy="32110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55560D9-3C51-91AA-E25C-E06700F98B6D}"/>
              </a:ext>
            </a:extLst>
          </p:cNvPr>
          <p:cNvSpPr txBox="1"/>
          <p:nvPr/>
        </p:nvSpPr>
        <p:spPr>
          <a:xfrm>
            <a:off x="6890657" y="2971311"/>
            <a:ext cx="520337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GID of the remote peer, received from the socket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812C69-9625-0116-1FEC-A824BC5FC902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5910943" y="3155977"/>
            <a:ext cx="979714" cy="226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ight Brace 13">
            <a:extLst>
              <a:ext uri="{FF2B5EF4-FFF2-40B4-BE49-F238E27FC236}">
                <a16:creationId xmlns:a16="http://schemas.microsoft.com/office/drawing/2014/main" id="{F49EF60B-A6E6-DA13-D8C5-780CCD8F9D3A}"/>
              </a:ext>
            </a:extLst>
          </p:cNvPr>
          <p:cNvSpPr/>
          <p:nvPr/>
        </p:nvSpPr>
        <p:spPr>
          <a:xfrm>
            <a:off x="5161243" y="3868292"/>
            <a:ext cx="215153" cy="1190596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BC830C-C7D2-F4A8-15CB-6118EC3A2E88}"/>
              </a:ext>
            </a:extLst>
          </p:cNvPr>
          <p:cNvSpPr txBox="1"/>
          <p:nvPr/>
        </p:nvSpPr>
        <p:spPr>
          <a:xfrm>
            <a:off x="6890657" y="4020197"/>
            <a:ext cx="5203371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path information to reach remote, </a:t>
            </a:r>
            <a:b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is_global</a:t>
            </a:r>
            <a:r>
              <a:rPr lang="en-GB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=1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using a GID</a:t>
            </a:r>
          </a:p>
          <a:p>
            <a:r>
              <a:rPr lang="en-GB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port_num</a:t>
            </a:r>
            <a:r>
              <a:rPr lang="en-GB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=1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port to reach the remote GID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30FA3F8-0A8D-2850-AB69-B5F9AC43A1F7}"/>
              </a:ext>
            </a:extLst>
          </p:cNvPr>
          <p:cNvCxnSpPr>
            <a:cxnSpLocks/>
            <a:stCxn id="15" idx="1"/>
            <a:endCxn id="14" idx="1"/>
          </p:cNvCxnSpPr>
          <p:nvPr/>
        </p:nvCxnSpPr>
        <p:spPr>
          <a:xfrm flipH="1" flipV="1">
            <a:off x="5376396" y="4463590"/>
            <a:ext cx="1514261" cy="182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C0A75EF-948D-6C27-EBA1-EBC5E0B2F97A}"/>
              </a:ext>
            </a:extLst>
          </p:cNvPr>
          <p:cNvSpPr txBox="1"/>
          <p:nvPr/>
        </p:nvSpPr>
        <p:spPr>
          <a:xfrm>
            <a:off x="6890657" y="3471011"/>
            <a:ext cx="520337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 GID index, 1 since we are using RoCEv2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23F8473-E1C9-C9D3-3008-446B717EB8DF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2579914" y="3429000"/>
            <a:ext cx="4310743" cy="2266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355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4" grpId="0" animBg="1"/>
      <p:bldP spid="15" grpId="0" animBg="1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7BAD9-872A-67F4-2763-D8109DA9D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D761A-C591-C1C6-FBC2-80B2E8BF8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QP configuration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DCBB4-3F72-E2D0-C523-58090D772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692082"/>
          </a:xfrm>
        </p:spPr>
        <p:txBody>
          <a:bodyPr/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are in RTR, the RTR-&gt;RTS transition can be performed locally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1BD997-620F-CD66-FB43-3C0A060E9960}"/>
              </a:ext>
            </a:extLst>
          </p:cNvPr>
          <p:cNvSpPr txBox="1"/>
          <p:nvPr/>
        </p:nvSpPr>
        <p:spPr>
          <a:xfrm>
            <a:off x="609600" y="2250239"/>
            <a:ext cx="10972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with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pyverbs.device.Context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(name="rxe0") as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66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... previous code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rts_attr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pyverbs.qp.QPAttr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qp_state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=IBV_QPS_RTS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)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rts_attr.sq_psn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0             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rts_attr.timeout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14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rts_attr.retry_cnt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7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rts_attr.rnr_retry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7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rts_attr.max_rd_atomic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1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qp.modify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rts_attr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IBV_QP_STATE | IBV_QP_TIMEOUT | IBV_QP_RETRY_CNT | IBV_QP_RNR_RETRY | IBV_QP_SQ_PSN | IBV_QP_MAX_QP_RD_ATOMIC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90882C-6ABD-637D-9478-CD7A656FCEC3}"/>
              </a:ext>
            </a:extLst>
          </p:cNvPr>
          <p:cNvSpPr txBox="1"/>
          <p:nvPr/>
        </p:nvSpPr>
        <p:spPr>
          <a:xfrm>
            <a:off x="7380517" y="2339253"/>
            <a:ext cx="453934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local starting PSN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62C8B7-131A-CE2A-6629-E4B636DF89EB}"/>
              </a:ext>
            </a:extLst>
          </p:cNvPr>
          <p:cNvSpPr txBox="1"/>
          <p:nvPr/>
        </p:nvSpPr>
        <p:spPr>
          <a:xfrm>
            <a:off x="7380517" y="2789398"/>
            <a:ext cx="4539341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min timeout a QP waits for ACK/NAK before retransmission, 14 equals to 67.1ms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84C5E88-780E-FDCC-C556-8F00E5C2984D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3385457" y="3112564"/>
            <a:ext cx="3995060" cy="7627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39CBF0B-92C8-2208-B662-E94AD228299B}"/>
              </a:ext>
            </a:extLst>
          </p:cNvPr>
          <p:cNvSpPr txBox="1"/>
          <p:nvPr/>
        </p:nvSpPr>
        <p:spPr>
          <a:xfrm>
            <a:off x="7380517" y="3505970"/>
            <a:ext cx="4539341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# of times the QP tries resend a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pkt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before reporting an error, 7 = infinite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847C297-D014-61D1-DB2B-086DF83D0DA2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3483429" y="3829136"/>
            <a:ext cx="3897088" cy="2856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E14B7EA-9619-5B1D-187F-71960D64327C}"/>
              </a:ext>
            </a:extLst>
          </p:cNvPr>
          <p:cNvSpPr txBox="1"/>
          <p:nvPr/>
        </p:nvSpPr>
        <p:spPr>
          <a:xfrm>
            <a:off x="7380517" y="1889108"/>
            <a:ext cx="453934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state to transition into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F0623BA-8439-4137-26E1-84127F974716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3714750" y="2073774"/>
            <a:ext cx="3665767" cy="11409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BA1CFC1-6C96-F312-E714-EDA0F2AC62B0}"/>
              </a:ext>
            </a:extLst>
          </p:cNvPr>
          <p:cNvSpPr txBox="1"/>
          <p:nvPr/>
        </p:nvSpPr>
        <p:spPr>
          <a:xfrm>
            <a:off x="7380517" y="4237655"/>
            <a:ext cx="4539341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# of times the QP tries to resend a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pkt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when receiving a NAK, 7 = infinite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1E57FCB-C8BA-E086-E30D-40672002D056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3526971" y="4365171"/>
            <a:ext cx="3853546" cy="1956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C023BA3-DDBF-37F4-C061-3E842DBA742B}"/>
              </a:ext>
            </a:extLst>
          </p:cNvPr>
          <p:cNvSpPr txBox="1"/>
          <p:nvPr/>
        </p:nvSpPr>
        <p:spPr>
          <a:xfrm>
            <a:off x="7380517" y="4956879"/>
            <a:ext cx="4539341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max RDMA reads (or atomic operations) that this QP can handle as a sender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865FD74-7996-9A3F-9B06-858B84884D05}"/>
              </a:ext>
            </a:extLst>
          </p:cNvPr>
          <p:cNvCxnSpPr>
            <a:cxnSpLocks/>
            <a:stCxn id="26" idx="1"/>
          </p:cNvCxnSpPr>
          <p:nvPr/>
        </p:nvCxnSpPr>
        <p:spPr>
          <a:xfrm flipH="1" flipV="1">
            <a:off x="3929743" y="4604657"/>
            <a:ext cx="3450774" cy="67538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urved Connector 42">
            <a:extLst>
              <a:ext uri="{FF2B5EF4-FFF2-40B4-BE49-F238E27FC236}">
                <a16:creationId xmlns:a16="http://schemas.microsoft.com/office/drawing/2014/main" id="{39825532-D5F2-6041-53C7-BC6183CB53AD}"/>
              </a:ext>
            </a:extLst>
          </p:cNvPr>
          <p:cNvCxnSpPr>
            <a:cxnSpLocks/>
            <a:stCxn id="13" idx="1"/>
          </p:cNvCxnSpPr>
          <p:nvPr/>
        </p:nvCxnSpPr>
        <p:spPr>
          <a:xfrm rot="10800000" flipV="1">
            <a:off x="3178629" y="2523919"/>
            <a:ext cx="4201888" cy="1124680"/>
          </a:xfrm>
          <a:prstGeom prst="curvedConnector3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17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8" grpId="0" animBg="1"/>
      <p:bldP spid="20" grpId="0" animBg="1"/>
      <p:bldP spid="22" grpId="0" animBg="1"/>
      <p:bldP spid="24" grpId="0" animBg="1"/>
      <p:bldP spid="2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83013-6EC9-88C0-47BE-E82BAB076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D61AC-5541-65B8-B3A2-DB6895689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CQ polling thread creation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10F80-0CBD-5DC6-A56D-542FDB42B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1732998"/>
          </a:xfrm>
        </p:spPr>
        <p:txBody>
          <a:bodyPr/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are in RTS state, the two QPs can communicate!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spawn a thread that polls the CQ for CQEs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A3AC41-9690-B45D-D7AF-8851E39B77E9}"/>
              </a:ext>
            </a:extLst>
          </p:cNvPr>
          <p:cNvSpPr txBox="1"/>
          <p:nvPr/>
        </p:nvSpPr>
        <p:spPr>
          <a:xfrm>
            <a:off x="609600" y="4834110"/>
            <a:ext cx="10972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with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pyverbs.device.Context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(name="rxe0") as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66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... previous code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global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keep_polling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keep_polling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True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cq_thread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threading.Thread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(target=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poll_cq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args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=(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cq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,))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cq_thread.start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1D4987-FC92-B3B3-529C-71E46C829C0B}"/>
              </a:ext>
            </a:extLst>
          </p:cNvPr>
          <p:cNvSpPr txBox="1"/>
          <p:nvPr/>
        </p:nvSpPr>
        <p:spPr>
          <a:xfrm>
            <a:off x="609600" y="2539235"/>
            <a:ext cx="680506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66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at the beginning of the Python script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keep_polling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True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poll_cq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cq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pyverbs.cq.CQ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 -&gt; None: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global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keep_polling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while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keep_polling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wc_num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wc_list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cq.poll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num_entries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=10)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if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wc_num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&gt; 0: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for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wc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in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wc_list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print(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f"CQE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wr_id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={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wc.wr_id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}, status={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wc.status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}")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7A242-B8CF-6742-8987-21D9F447B2A3}"/>
              </a:ext>
            </a:extLst>
          </p:cNvPr>
          <p:cNvSpPr txBox="1"/>
          <p:nvPr/>
        </p:nvSpPr>
        <p:spPr>
          <a:xfrm>
            <a:off x="7937180" y="2440323"/>
            <a:ext cx="401682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global flag to stop the thread when the app ends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1603AE0-9A80-C9D9-895A-7BF42238F2AA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2960914" y="2763489"/>
            <a:ext cx="4976266" cy="1974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36CE9D2-F300-4F56-60AE-A69E7319528D}"/>
              </a:ext>
            </a:extLst>
          </p:cNvPr>
          <p:cNvSpPr txBox="1"/>
          <p:nvPr/>
        </p:nvSpPr>
        <p:spPr>
          <a:xfrm>
            <a:off x="7937180" y="3280478"/>
            <a:ext cx="401682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poll the CQ, blocking call, return 10 entries (the capacity of our CQ)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2CF027D-B5D7-A770-1D29-667126E8FF42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5780314" y="3603644"/>
            <a:ext cx="2156866" cy="3152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2F578B8-CCF1-CD60-59B3-E583C3B27DF4}"/>
              </a:ext>
            </a:extLst>
          </p:cNvPr>
          <p:cNvSpPr txBox="1"/>
          <p:nvPr/>
        </p:nvSpPr>
        <p:spPr>
          <a:xfrm>
            <a:off x="7924801" y="4053076"/>
            <a:ext cx="401682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print CQE data, but apps can use these signals to trigger app logic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4F8232A-E567-E88D-F599-8EE64C1D0A3B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7282543" y="4376242"/>
            <a:ext cx="642258" cy="2284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ight Brace 32">
            <a:extLst>
              <a:ext uri="{FF2B5EF4-FFF2-40B4-BE49-F238E27FC236}">
                <a16:creationId xmlns:a16="http://schemas.microsoft.com/office/drawing/2014/main" id="{19DA1044-33D0-9CC5-98C0-7AD239295288}"/>
              </a:ext>
            </a:extLst>
          </p:cNvPr>
          <p:cNvSpPr/>
          <p:nvPr/>
        </p:nvSpPr>
        <p:spPr>
          <a:xfrm>
            <a:off x="7199515" y="5132498"/>
            <a:ext cx="215153" cy="1190596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E7EAEA-821E-20C9-0129-9AF7E68FAE96}"/>
              </a:ext>
            </a:extLst>
          </p:cNvPr>
          <p:cNvSpPr txBox="1"/>
          <p:nvPr/>
        </p:nvSpPr>
        <p:spPr>
          <a:xfrm>
            <a:off x="7937180" y="5266131"/>
            <a:ext cx="4029208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 a thread that runs the </a:t>
            </a:r>
            <a:r>
              <a:rPr lang="en-GB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poll_cq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function with </a:t>
            </a:r>
            <a:r>
              <a:rPr lang="en-GB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cq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as argument and start it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9C81CFE-1BA7-1222-9DDC-6362EF3F8E50}"/>
              </a:ext>
            </a:extLst>
          </p:cNvPr>
          <p:cNvCxnSpPr>
            <a:cxnSpLocks/>
            <a:stCxn id="34" idx="1"/>
            <a:endCxn id="33" idx="1"/>
          </p:cNvCxnSpPr>
          <p:nvPr/>
        </p:nvCxnSpPr>
        <p:spPr>
          <a:xfrm flipH="1">
            <a:off x="7414668" y="5727796"/>
            <a:ext cx="52251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953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1" grpId="0" animBg="1"/>
      <p:bldP spid="24" grpId="0" animBg="1"/>
      <p:bldP spid="33" grpId="0" animBg="1"/>
      <p:bldP spid="3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E557A-EF05-ABD3-7C25-0688CFD88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3D112-AFAC-14EF-1C03-EB5419518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posting verbs (two-sided)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C2A32-BB0C-7BFE-780E-BFF550B6E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658911"/>
          </a:xfrm>
        </p:spPr>
        <p:txBody>
          <a:bodyPr/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client side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53500A-BCE8-07B8-2B4F-EC436381D886}"/>
              </a:ext>
            </a:extLst>
          </p:cNvPr>
          <p:cNvSpPr txBox="1"/>
          <p:nvPr/>
        </p:nvSpPr>
        <p:spPr>
          <a:xfrm>
            <a:off x="609600" y="2089730"/>
            <a:ext cx="10972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with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pyverbs.device.Context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(name="rxe0") as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66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... previous code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message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b"Hello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from IK2227!"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mr.write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(data=message, length=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(message) + 1, offset=0)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sge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pyverbs.wr.SGE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mr.buf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length=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(message) + 1,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lkey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mr.lkey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)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wr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pyverbs.wr.SendWR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wr_id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=1,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sg=[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sge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],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num_sge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=1,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opcode=IBV_WR_SEND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)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qp.</a:t>
            </a:r>
            <a:r>
              <a:rPr lang="en-US" sz="16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post_send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wr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2692EF-39EB-F715-3713-791B95812126}"/>
              </a:ext>
            </a:extLst>
          </p:cNvPr>
          <p:cNvSpPr txBox="1"/>
          <p:nvPr/>
        </p:nvSpPr>
        <p:spPr>
          <a:xfrm>
            <a:off x="7924823" y="3244334"/>
            <a:ext cx="401682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starting local address for data read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71AD008-46F8-B902-E254-F67D3BC3B74C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2829697" y="3429000"/>
            <a:ext cx="5095126" cy="3042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EF20341-4D95-B902-7582-AE3842CC3CF8}"/>
              </a:ext>
            </a:extLst>
          </p:cNvPr>
          <p:cNvSpPr txBox="1"/>
          <p:nvPr/>
        </p:nvSpPr>
        <p:spPr>
          <a:xfrm>
            <a:off x="7924823" y="3740393"/>
            <a:ext cx="401682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length of the data to read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0B9093C-48AA-3330-8023-A060C7630CEB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3929449" y="3925059"/>
            <a:ext cx="3995374" cy="307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95B6BB4-FFEF-CBF2-92BA-9A9CF2A68554}"/>
              </a:ext>
            </a:extLst>
          </p:cNvPr>
          <p:cNvSpPr txBox="1"/>
          <p:nvPr/>
        </p:nvSpPr>
        <p:spPr>
          <a:xfrm>
            <a:off x="7924823" y="4217669"/>
            <a:ext cx="401682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auth key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for accessing the local MR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0A6C436-CD8E-3D62-40BA-495DBBA43837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2607276" y="4201297"/>
            <a:ext cx="5317547" cy="2010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ight Brace 22">
            <a:extLst>
              <a:ext uri="{FF2B5EF4-FFF2-40B4-BE49-F238E27FC236}">
                <a16:creationId xmlns:a16="http://schemas.microsoft.com/office/drawing/2014/main" id="{FF1734B5-35B6-C520-0A55-B9520A786193}"/>
              </a:ext>
            </a:extLst>
          </p:cNvPr>
          <p:cNvSpPr/>
          <p:nvPr/>
        </p:nvSpPr>
        <p:spPr>
          <a:xfrm>
            <a:off x="7338039" y="2539760"/>
            <a:ext cx="215153" cy="634773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8253F0-0CD2-EF3A-92D7-EB990F3BA387}"/>
              </a:ext>
            </a:extLst>
          </p:cNvPr>
          <p:cNvSpPr txBox="1"/>
          <p:nvPr/>
        </p:nvSpPr>
        <p:spPr>
          <a:xfrm>
            <a:off x="7924823" y="2672480"/>
            <a:ext cx="402920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some data in the buffer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1024CA1-9B1E-5CB6-3571-6D4840D64210}"/>
              </a:ext>
            </a:extLst>
          </p:cNvPr>
          <p:cNvCxnSpPr>
            <a:cxnSpLocks/>
            <a:stCxn id="26" idx="1"/>
            <a:endCxn id="23" idx="1"/>
          </p:cNvCxnSpPr>
          <p:nvPr/>
        </p:nvCxnSpPr>
        <p:spPr>
          <a:xfrm flipH="1">
            <a:off x="7553192" y="2857146"/>
            <a:ext cx="371631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CE7CE4E-26E9-9D68-8C34-B9AF7D70ECCC}"/>
              </a:ext>
            </a:extLst>
          </p:cNvPr>
          <p:cNvSpPr txBox="1"/>
          <p:nvPr/>
        </p:nvSpPr>
        <p:spPr>
          <a:xfrm>
            <a:off x="7924823" y="4703162"/>
            <a:ext cx="401682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user-defined ID to identify the WR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C917225-2562-18D2-D8CA-5DCD4AA2B044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2133600" y="4887828"/>
            <a:ext cx="5791223" cy="552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ight Brace 40">
            <a:extLst>
              <a:ext uri="{FF2B5EF4-FFF2-40B4-BE49-F238E27FC236}">
                <a16:creationId xmlns:a16="http://schemas.microsoft.com/office/drawing/2014/main" id="{DC3DD342-B119-97D4-4515-7F41FDBBBCD9}"/>
              </a:ext>
            </a:extLst>
          </p:cNvPr>
          <p:cNvSpPr/>
          <p:nvPr/>
        </p:nvSpPr>
        <p:spPr>
          <a:xfrm>
            <a:off x="2392123" y="5072494"/>
            <a:ext cx="215153" cy="475153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28CD653-9FB9-9C4A-A93E-7BAEDCF9C865}"/>
              </a:ext>
            </a:extLst>
          </p:cNvPr>
          <p:cNvSpPr txBox="1"/>
          <p:nvPr/>
        </p:nvSpPr>
        <p:spPr>
          <a:xfrm>
            <a:off x="7912444" y="5168158"/>
            <a:ext cx="402920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SGE list composing the WR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A75C1BE-F7B5-6764-3C99-919A15106A7C}"/>
              </a:ext>
            </a:extLst>
          </p:cNvPr>
          <p:cNvCxnSpPr>
            <a:cxnSpLocks/>
            <a:stCxn id="42" idx="1"/>
            <a:endCxn id="41" idx="1"/>
          </p:cNvCxnSpPr>
          <p:nvPr/>
        </p:nvCxnSpPr>
        <p:spPr>
          <a:xfrm flipH="1" flipV="1">
            <a:off x="2607276" y="5310071"/>
            <a:ext cx="5305168" cy="4275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7139162B-F87C-8D0D-216F-1C08561B5531}"/>
              </a:ext>
            </a:extLst>
          </p:cNvPr>
          <p:cNvSpPr txBox="1"/>
          <p:nvPr/>
        </p:nvSpPr>
        <p:spPr>
          <a:xfrm>
            <a:off x="7912444" y="5646656"/>
            <a:ext cx="401682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 of operation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5835D5A-A5A7-BF1E-7A71-720F3B00D1AB}"/>
              </a:ext>
            </a:extLst>
          </p:cNvPr>
          <p:cNvCxnSpPr>
            <a:cxnSpLocks/>
            <a:stCxn id="46" idx="1"/>
          </p:cNvCxnSpPr>
          <p:nvPr/>
        </p:nvCxnSpPr>
        <p:spPr>
          <a:xfrm flipH="1" flipV="1">
            <a:off x="3309257" y="5646057"/>
            <a:ext cx="4603187" cy="18526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2D823E20-D83C-358A-BB0A-640B06C248BB}"/>
              </a:ext>
            </a:extLst>
          </p:cNvPr>
          <p:cNvSpPr txBox="1"/>
          <p:nvPr/>
        </p:nvSpPr>
        <p:spPr>
          <a:xfrm>
            <a:off x="7912444" y="6221292"/>
            <a:ext cx="401682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 on the SQ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0DB2800-4DB7-84FF-9673-D6FE9AFC7350}"/>
              </a:ext>
            </a:extLst>
          </p:cNvPr>
          <p:cNvCxnSpPr>
            <a:cxnSpLocks/>
            <a:stCxn id="49" idx="1"/>
          </p:cNvCxnSpPr>
          <p:nvPr/>
        </p:nvCxnSpPr>
        <p:spPr>
          <a:xfrm flipH="1">
            <a:off x="2844800" y="6405958"/>
            <a:ext cx="5067644" cy="93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869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8" grpId="0" animBg="1"/>
      <p:bldP spid="23" grpId="0" animBg="1"/>
      <p:bldP spid="26" grpId="0" animBg="1"/>
      <p:bldP spid="32" grpId="0" animBg="1"/>
      <p:bldP spid="41" grpId="0" animBg="1"/>
      <p:bldP spid="42" grpId="0" animBg="1"/>
      <p:bldP spid="46" grpId="0" animBg="1"/>
      <p:bldP spid="4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5E4CE-8F9D-2D23-9BAF-F6F5B0990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80F93-B0E2-0237-8DD4-15A7B3D7C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posting verbs (two-sided)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70D6F-F48A-98F7-BD5F-34CA0E474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658911"/>
          </a:xfrm>
        </p:spPr>
        <p:txBody>
          <a:bodyPr/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server side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4EC22E-3CD3-C938-1E75-7C3319023506}"/>
              </a:ext>
            </a:extLst>
          </p:cNvPr>
          <p:cNvSpPr txBox="1"/>
          <p:nvPr/>
        </p:nvSpPr>
        <p:spPr>
          <a:xfrm>
            <a:off x="609600" y="2217053"/>
            <a:ext cx="109728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with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pyverbs.device.Context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(name="rxe0") as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66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... previous code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sge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pyverbs.wr.SGE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mr.buf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length=4096,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lkey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mr.lkey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)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recv_wr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pyverbs.wr.RecvWR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wr_id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=1,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sg=[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sge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],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num_sge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=1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)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qp.</a:t>
            </a:r>
            <a:r>
              <a:rPr lang="en-US" sz="16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post_recv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recv_wr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8D7F04-4744-203D-BFC8-D28031E5D19C}"/>
              </a:ext>
            </a:extLst>
          </p:cNvPr>
          <p:cNvSpPr txBox="1"/>
          <p:nvPr/>
        </p:nvSpPr>
        <p:spPr>
          <a:xfrm>
            <a:off x="7982880" y="2678277"/>
            <a:ext cx="401682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starting local address to receive data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7580112-8011-9A5A-AF5E-F68925D8CAAE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598057" y="2862943"/>
            <a:ext cx="5384823" cy="30117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EBF9451-AF25-BCA8-593F-4EBC47125E31}"/>
              </a:ext>
            </a:extLst>
          </p:cNvPr>
          <p:cNvSpPr txBox="1"/>
          <p:nvPr/>
        </p:nvSpPr>
        <p:spPr>
          <a:xfrm>
            <a:off x="7982880" y="3174336"/>
            <a:ext cx="401682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length of the data to receive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A80AF51-BB72-FFFD-B4B2-C13950830EBA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3309257" y="3352800"/>
            <a:ext cx="4673623" cy="620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9DCA295-A034-12CA-EAC4-C6FAC8B0D833}"/>
              </a:ext>
            </a:extLst>
          </p:cNvPr>
          <p:cNvSpPr txBox="1"/>
          <p:nvPr/>
        </p:nvSpPr>
        <p:spPr>
          <a:xfrm>
            <a:off x="7982880" y="3651612"/>
            <a:ext cx="401682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auth key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for accessing the local MR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E911B90-1D32-C3D1-AF71-9D0DDF1B3C86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2665333" y="3635240"/>
            <a:ext cx="5317547" cy="2010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91BC490-30D2-0560-D569-E7771E4DDBD0}"/>
              </a:ext>
            </a:extLst>
          </p:cNvPr>
          <p:cNvSpPr txBox="1"/>
          <p:nvPr/>
        </p:nvSpPr>
        <p:spPr>
          <a:xfrm>
            <a:off x="7982880" y="5325207"/>
            <a:ext cx="401682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 on the RQ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720CC45-7309-D389-73E7-DF527D876B5F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3599543" y="5509873"/>
            <a:ext cx="4383337" cy="636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3324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  <p:bldP spid="1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3E548-C404-AC08-6FAC-48A5D95EF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AAE4C-A76E-6D82-7845-EF075EA8D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posting verbs (one-sided)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77A93-431E-60F5-67AF-BA1A1852E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658911"/>
          </a:xfrm>
        </p:spPr>
        <p:txBody>
          <a:bodyPr/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client side only, server is </a:t>
            </a:r>
            <a:r>
              <a:rPr lang="en-US" sz="28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unaware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of the operation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C7C69F-3CC0-290E-D852-A350B4F3714A}"/>
              </a:ext>
            </a:extLst>
          </p:cNvPr>
          <p:cNvSpPr txBox="1"/>
          <p:nvPr/>
        </p:nvSpPr>
        <p:spPr>
          <a:xfrm>
            <a:off x="609600" y="2020283"/>
            <a:ext cx="1097280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with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pyverbs.device.Context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(name="rxe0") as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66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... previous code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message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b"Hello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from IK2227!"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mr.write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(data=message, length=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(message) + 1, offset=0)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sge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pyverbs.wr.SGE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mr.buf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length=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(message) + 1,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lkey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mr.lkey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)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wr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pyverbs.wr.SendWR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wr_id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=1,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sg=[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sge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],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num_sge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=1,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opcode=</a:t>
            </a:r>
            <a:r>
              <a:rPr lang="en-US" sz="16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IBV_WR_RDMA_WRITE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)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wr.set_wr_rdma</a:t>
            </a:r>
            <a:r>
              <a:rPr lang="en-US" sz="16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rkey</a:t>
            </a:r>
            <a:r>
              <a:rPr lang="en-US" sz="16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6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remote_con.rkey</a:t>
            </a:r>
            <a:r>
              <a:rPr lang="en-US" sz="16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en-US" sz="16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6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remote_con.addr</a:t>
            </a:r>
            <a:r>
              <a:rPr lang="en-US" sz="16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qp.post_send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wr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0D21B2-9B70-8A12-0D53-5D9B46A3846F}"/>
              </a:ext>
            </a:extLst>
          </p:cNvPr>
          <p:cNvSpPr txBox="1"/>
          <p:nvPr/>
        </p:nvSpPr>
        <p:spPr>
          <a:xfrm>
            <a:off x="6096000" y="4139982"/>
            <a:ext cx="441045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remote auth key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 access remote memory (received through the socket)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2201EBF-CBDC-71BD-DCBA-0506551ABA91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3889829" y="4786313"/>
            <a:ext cx="4411399" cy="112100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C2223D4-8014-8952-142E-53EB740F9EF5}"/>
              </a:ext>
            </a:extLst>
          </p:cNvPr>
          <p:cNvSpPr txBox="1"/>
          <p:nvPr/>
        </p:nvSpPr>
        <p:spPr>
          <a:xfrm>
            <a:off x="7975600" y="4973107"/>
            <a:ext cx="401682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starting remote address to write data (received through the socket)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134FD39-6D33-CC61-205E-73DB545AF2F8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6096000" y="5619438"/>
            <a:ext cx="3888015" cy="2878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160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CFA4C-CC6C-DB1A-37C0-7E8F9B253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79C0E-13A5-1C1D-190D-B3045CB15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Scatter-Gather Entry (SGE)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31F94-37D6-EBF9-EDAF-E85BABFCA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1577166"/>
          </a:xfrm>
        </p:spPr>
        <p:txBody>
          <a:bodyPr/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structure used to describe memory buffers for transfers</a:t>
            </a:r>
          </a:p>
          <a:p>
            <a:r>
              <a:rPr lang="en-US" sz="280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WQEs</a:t>
            </a: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contain one or more </a:t>
            </a:r>
            <a:r>
              <a:rPr lang="en-US" sz="280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SGEs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specifying the memory regions involved in the operation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738973-3656-781C-9EBF-1B3F654599A2}"/>
              </a:ext>
            </a:extLst>
          </p:cNvPr>
          <p:cNvSpPr txBox="1"/>
          <p:nvPr/>
        </p:nvSpPr>
        <p:spPr>
          <a:xfrm>
            <a:off x="2028306" y="331130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BFD70FB-F8BC-B297-E24C-43A2EF00F0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874399"/>
              </p:ext>
            </p:extLst>
          </p:nvPr>
        </p:nvGraphicFramePr>
        <p:xfrm>
          <a:off x="1701808" y="3680639"/>
          <a:ext cx="1188719" cy="918402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188719">
                  <a:extLst>
                    <a:ext uri="{9D8B030D-6E8A-4147-A177-3AD203B41FA5}">
                      <a16:colId xmlns:a16="http://schemas.microsoft.com/office/drawing/2014/main" val="2728423502"/>
                    </a:ext>
                  </a:extLst>
                </a:gridCol>
              </a:tblGrid>
              <a:tr h="30613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wr_id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634941"/>
                  </a:ext>
                </a:extLst>
              </a:tr>
              <a:tr h="30613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num_sge</a:t>
                      </a:r>
                      <a:r>
                        <a:rPr lang="en-US" sz="1400" dirty="0"/>
                        <a:t>=2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554361"/>
                  </a:ext>
                </a:extLst>
              </a:tr>
              <a:tr h="30613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789668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651244-521A-9B22-A638-041BAE1F2480}"/>
              </a:ext>
            </a:extLst>
          </p:cNvPr>
          <p:cNvSpPr txBox="1"/>
          <p:nvPr/>
        </p:nvSpPr>
        <p:spPr>
          <a:xfrm>
            <a:off x="4700835" y="3311307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SGEs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8C772E1-0CDD-0620-6801-9BAF84D8B8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339579"/>
              </p:ext>
            </p:extLst>
          </p:nvPr>
        </p:nvGraphicFramePr>
        <p:xfrm>
          <a:off x="4428659" y="3676775"/>
          <a:ext cx="1299013" cy="918402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299013">
                  <a:extLst>
                    <a:ext uri="{9D8B030D-6E8A-4147-A177-3AD203B41FA5}">
                      <a16:colId xmlns:a16="http://schemas.microsoft.com/office/drawing/2014/main" val="2728423502"/>
                    </a:ext>
                  </a:extLst>
                </a:gridCol>
              </a:tblGrid>
              <a:tr h="30613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addr</a:t>
                      </a:r>
                      <a:r>
                        <a:rPr lang="en-US" sz="1400" dirty="0"/>
                        <a:t>=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0xbcde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634941"/>
                  </a:ext>
                </a:extLst>
              </a:tr>
              <a:tr h="30613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length=N1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554361"/>
                  </a:ext>
                </a:extLst>
              </a:tr>
              <a:tr h="30613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rgbClr val="05B050"/>
                          </a:solidFill>
                        </a:rPr>
                        <a:t>lkey</a:t>
                      </a:r>
                      <a:endParaRPr lang="en-US" sz="1400" dirty="0">
                        <a:solidFill>
                          <a:srgbClr val="05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789668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645E3B8-8D82-6793-12E7-1D3BA98888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563944"/>
              </p:ext>
            </p:extLst>
          </p:nvPr>
        </p:nvGraphicFramePr>
        <p:xfrm>
          <a:off x="4428658" y="4595177"/>
          <a:ext cx="1299013" cy="918402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299013">
                  <a:extLst>
                    <a:ext uri="{9D8B030D-6E8A-4147-A177-3AD203B41FA5}">
                      <a16:colId xmlns:a16="http://schemas.microsoft.com/office/drawing/2014/main" val="2728423502"/>
                    </a:ext>
                  </a:extLst>
                </a:gridCol>
              </a:tblGrid>
              <a:tr h="30613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addr</a:t>
                      </a:r>
                      <a:r>
                        <a:rPr lang="en-US" sz="1400" dirty="0"/>
                        <a:t>=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0xcdef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634941"/>
                  </a:ext>
                </a:extLst>
              </a:tr>
              <a:tr h="30613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length=N2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554361"/>
                  </a:ext>
                </a:extLst>
              </a:tr>
              <a:tr h="30613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rgbClr val="00B150"/>
                          </a:solidFill>
                        </a:rPr>
                        <a:t>lkey</a:t>
                      </a:r>
                      <a:endParaRPr lang="en-US" sz="1400" dirty="0">
                        <a:solidFill>
                          <a:srgbClr val="00B1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7896682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8CDC8A7-EC19-3856-37CF-629F93E2F329}"/>
              </a:ext>
            </a:extLst>
          </p:cNvPr>
          <p:cNvCxnSpPr>
            <a:cxnSpLocks/>
          </p:cNvCxnSpPr>
          <p:nvPr/>
        </p:nvCxnSpPr>
        <p:spPr>
          <a:xfrm flipV="1">
            <a:off x="2890527" y="3676775"/>
            <a:ext cx="1565563" cy="76573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5A5B5E6-7529-258F-9D8F-AEB5A6F094F9}"/>
              </a:ext>
            </a:extLst>
          </p:cNvPr>
          <p:cNvCxnSpPr/>
          <p:nvPr/>
        </p:nvCxnSpPr>
        <p:spPr>
          <a:xfrm>
            <a:off x="4206707" y="4595177"/>
            <a:ext cx="168748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E699C62-C995-2F04-BBD5-49B7521E53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369672"/>
              </p:ext>
            </p:extLst>
          </p:nvPr>
        </p:nvGraphicFramePr>
        <p:xfrm>
          <a:off x="8670613" y="3143088"/>
          <a:ext cx="1188719" cy="3367474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188719">
                  <a:extLst>
                    <a:ext uri="{9D8B030D-6E8A-4147-A177-3AD203B41FA5}">
                      <a16:colId xmlns:a16="http://schemas.microsoft.com/office/drawing/2014/main" val="2728423502"/>
                    </a:ext>
                  </a:extLst>
                </a:gridCol>
              </a:tblGrid>
              <a:tr h="306134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634941"/>
                  </a:ext>
                </a:extLst>
              </a:tr>
              <a:tr h="61226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N1 Bytes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554361"/>
                  </a:ext>
                </a:extLst>
              </a:tr>
              <a:tr h="306134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2147349"/>
                  </a:ext>
                </a:extLst>
              </a:tr>
              <a:tr h="306134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63866"/>
                  </a:ext>
                </a:extLst>
              </a:tr>
              <a:tr h="306134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113853"/>
                  </a:ext>
                </a:extLst>
              </a:tr>
              <a:tr h="30613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N2 Bytes</a:t>
                      </a:r>
                    </a:p>
                  </a:txBody>
                  <a:tcPr>
                    <a:solidFill>
                      <a:srgbClr val="00B1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4391480"/>
                  </a:ext>
                </a:extLst>
              </a:tr>
              <a:tr h="306134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869477"/>
                  </a:ext>
                </a:extLst>
              </a:tr>
              <a:tr h="306134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514565"/>
                  </a:ext>
                </a:extLst>
              </a:tr>
              <a:tr h="306134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239820"/>
                  </a:ext>
                </a:extLst>
              </a:tr>
              <a:tr h="306134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125836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8C421F8-75E6-0CD3-D372-6D5F0B1830D9}"/>
              </a:ext>
            </a:extLst>
          </p:cNvPr>
          <p:cNvCxnSpPr>
            <a:cxnSpLocks/>
          </p:cNvCxnSpPr>
          <p:nvPr/>
        </p:nvCxnSpPr>
        <p:spPr>
          <a:xfrm flipV="1">
            <a:off x="5644809" y="3452867"/>
            <a:ext cx="3025803" cy="3848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03385E1-E314-9069-3F87-E45CCC6D4CAF}"/>
              </a:ext>
            </a:extLst>
          </p:cNvPr>
          <p:cNvCxnSpPr>
            <a:cxnSpLocks/>
          </p:cNvCxnSpPr>
          <p:nvPr/>
        </p:nvCxnSpPr>
        <p:spPr>
          <a:xfrm>
            <a:off x="5644809" y="4743978"/>
            <a:ext cx="3025803" cy="2377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F8F6C32-64B8-9172-3B10-6A42525C2CCB}"/>
              </a:ext>
            </a:extLst>
          </p:cNvPr>
          <p:cNvSpPr txBox="1"/>
          <p:nvPr/>
        </p:nvSpPr>
        <p:spPr>
          <a:xfrm>
            <a:off x="8755858" y="2773756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Memory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0951C5-4035-3E32-025F-173F485A67F3}"/>
              </a:ext>
            </a:extLst>
          </p:cNvPr>
          <p:cNvSpPr txBox="1"/>
          <p:nvPr/>
        </p:nvSpPr>
        <p:spPr>
          <a:xfrm>
            <a:off x="4189542" y="3837753"/>
            <a:ext cx="2680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2764A4-8760-29B3-C0A6-6F65BBF6D082}"/>
              </a:ext>
            </a:extLst>
          </p:cNvPr>
          <p:cNvSpPr txBox="1"/>
          <p:nvPr/>
        </p:nvSpPr>
        <p:spPr>
          <a:xfrm>
            <a:off x="4188067" y="4760604"/>
            <a:ext cx="2680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5414430-6DF8-65AB-955D-965FA05B5E16}"/>
              </a:ext>
            </a:extLst>
          </p:cNvPr>
          <p:cNvCxnSpPr/>
          <p:nvPr/>
        </p:nvCxnSpPr>
        <p:spPr>
          <a:xfrm>
            <a:off x="8411999" y="3143088"/>
            <a:ext cx="168748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9751E53-EF9E-D3C2-9272-E91F14C149CB}"/>
              </a:ext>
            </a:extLst>
          </p:cNvPr>
          <p:cNvSpPr txBox="1"/>
          <p:nvPr/>
        </p:nvSpPr>
        <p:spPr>
          <a:xfrm>
            <a:off x="10099482" y="2989943"/>
            <a:ext cx="14590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mr.buf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= 0xabcd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7C0CE9-94EB-3883-C6C1-70AA44028892}"/>
              </a:ext>
            </a:extLst>
          </p:cNvPr>
          <p:cNvSpPr txBox="1"/>
          <p:nvPr/>
        </p:nvSpPr>
        <p:spPr>
          <a:xfrm>
            <a:off x="9990268" y="3314367"/>
            <a:ext cx="6944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0xbcde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75265B0-AB80-DC40-0A85-DF43E7B8F9F9}"/>
              </a:ext>
            </a:extLst>
          </p:cNvPr>
          <p:cNvCxnSpPr>
            <a:cxnSpLocks/>
          </p:cNvCxnSpPr>
          <p:nvPr/>
        </p:nvCxnSpPr>
        <p:spPr>
          <a:xfrm flipH="1">
            <a:off x="9857857" y="3452867"/>
            <a:ext cx="13241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376DA4A-E297-B409-F810-6515B5D3050C}"/>
              </a:ext>
            </a:extLst>
          </p:cNvPr>
          <p:cNvSpPr txBox="1"/>
          <p:nvPr/>
        </p:nvSpPr>
        <p:spPr>
          <a:xfrm rot="21169529">
            <a:off x="6522883" y="3209359"/>
            <a:ext cx="13227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accesses </a:t>
            </a:r>
            <a:r>
              <a:rPr lang="en-US" sz="11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0xbcde</a:t>
            </a:r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</a:t>
            </a:r>
          </a:p>
          <a:p>
            <a:pPr algn="ctr"/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authorized by </a:t>
            </a:r>
            <a:r>
              <a:rPr lang="en-US" sz="1100" dirty="0" err="1">
                <a:solidFill>
                  <a:srgbClr val="00B1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lkey</a:t>
            </a:r>
            <a:endParaRPr lang="en-US" sz="1100" dirty="0">
              <a:solidFill>
                <a:srgbClr val="00B15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840741-DD9A-90E6-61EF-85F7547A84F7}"/>
              </a:ext>
            </a:extLst>
          </p:cNvPr>
          <p:cNvSpPr txBox="1"/>
          <p:nvPr/>
        </p:nvSpPr>
        <p:spPr>
          <a:xfrm>
            <a:off x="9990268" y="4843215"/>
            <a:ext cx="6944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0xcdef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8E8ADAE-EC60-E574-2C0C-8615F5157316}"/>
              </a:ext>
            </a:extLst>
          </p:cNvPr>
          <p:cNvCxnSpPr>
            <a:cxnSpLocks/>
          </p:cNvCxnSpPr>
          <p:nvPr/>
        </p:nvCxnSpPr>
        <p:spPr>
          <a:xfrm flipH="1">
            <a:off x="9857857" y="4981715"/>
            <a:ext cx="13241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57A43B3-E052-E1B8-7881-28460A617BB9}"/>
              </a:ext>
            </a:extLst>
          </p:cNvPr>
          <p:cNvSpPr txBox="1"/>
          <p:nvPr/>
        </p:nvSpPr>
        <p:spPr>
          <a:xfrm rot="265871">
            <a:off x="6571112" y="4411945"/>
            <a:ext cx="13227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accesses </a:t>
            </a:r>
            <a:r>
              <a:rPr lang="en-US" sz="11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0xcdef</a:t>
            </a:r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</a:t>
            </a:r>
          </a:p>
          <a:p>
            <a:pPr algn="ctr"/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authorized by </a:t>
            </a:r>
            <a:r>
              <a:rPr lang="en-US" sz="1100" dirty="0" err="1">
                <a:solidFill>
                  <a:srgbClr val="00B1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lkey</a:t>
            </a:r>
            <a:endParaRPr lang="en-US" sz="1100" dirty="0">
              <a:solidFill>
                <a:srgbClr val="00B15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280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26" grpId="0"/>
      <p:bldP spid="27" grpId="0"/>
      <p:bldP spid="2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270C3-7AEB-B1B0-E13A-483DF272D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0D06D7-7BD0-DAD4-460A-3FA2ED908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857500"/>
            <a:ext cx="10972800" cy="1143000"/>
          </a:xfrm>
        </p:spPr>
        <p:txBody>
          <a:bodyPr/>
          <a:lstStyle/>
          <a:p>
            <a:r>
              <a:rPr lang="en-GB" dirty="0"/>
              <a:t>lab deep dive</a:t>
            </a:r>
          </a:p>
        </p:txBody>
      </p:sp>
    </p:spTree>
    <p:extLst>
      <p:ext uri="{BB962C8B-B14F-4D97-AF65-F5344CB8AC3E}">
        <p14:creationId xmlns:p14="http://schemas.microsoft.com/office/powerpoint/2010/main" val="28282324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3403A-4EAC-5397-8FC6-BB65E9471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lab pre-conditions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7C83C-FE13-E6B4-D784-AAB7B5F84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download the VM for your architecture from Canvas!</a:t>
            </a:r>
          </a:p>
          <a:p>
            <a:pPr lvl="1"/>
            <a:r>
              <a:rPr lang="en-GB" dirty="0"/>
              <a:t>the VM can be found in the “Labs</a:t>
            </a:r>
            <a:r>
              <a:rPr lang="en-GB"/>
              <a:t>” page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19145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D0A74165-5A2E-02C4-B018-8F0F8C89907D}"/>
              </a:ext>
            </a:extLst>
          </p:cNvPr>
          <p:cNvCxnSpPr/>
          <p:nvPr/>
        </p:nvCxnSpPr>
        <p:spPr>
          <a:xfrm>
            <a:off x="3521826" y="4397433"/>
            <a:ext cx="5181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07654E1-3A3D-6294-C959-7D26EC0E6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lab topology</a:t>
            </a:r>
          </a:p>
        </p:txBody>
      </p:sp>
      <p:grpSp>
        <p:nvGrpSpPr>
          <p:cNvPr id="77" name="Gruppo 599">
            <a:extLst>
              <a:ext uri="{FF2B5EF4-FFF2-40B4-BE49-F238E27FC236}">
                <a16:creationId xmlns:a16="http://schemas.microsoft.com/office/drawing/2014/main" id="{83B03038-FB7A-D4C6-A89A-2850B169EABD}"/>
              </a:ext>
            </a:extLst>
          </p:cNvPr>
          <p:cNvGrpSpPr/>
          <p:nvPr/>
        </p:nvGrpSpPr>
        <p:grpSpPr>
          <a:xfrm>
            <a:off x="8413526" y="3763999"/>
            <a:ext cx="1269056" cy="1509483"/>
            <a:chOff x="10682572" y="4306849"/>
            <a:chExt cx="387809" cy="462804"/>
          </a:xfrm>
        </p:grpSpPr>
        <p:sp>
          <p:nvSpPr>
            <p:cNvPr id="81" name="Text Box 169">
              <a:extLst>
                <a:ext uri="{FF2B5EF4-FFF2-40B4-BE49-F238E27FC236}">
                  <a16:creationId xmlns:a16="http://schemas.microsoft.com/office/drawing/2014/main" id="{9588E26C-80FA-9A46-78A9-C202D1C5D2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82572" y="4655748"/>
              <a:ext cx="324710" cy="1139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800" b="1" dirty="0"/>
                <a:t>server</a:t>
              </a:r>
            </a:p>
          </p:txBody>
        </p:sp>
        <p:sp>
          <p:nvSpPr>
            <p:cNvPr id="82" name="AutoShape 171">
              <a:extLst>
                <a:ext uri="{FF2B5EF4-FFF2-40B4-BE49-F238E27FC236}">
                  <a16:creationId xmlns:a16="http://schemas.microsoft.com/office/drawing/2014/main" id="{34E57A94-4B9C-BD27-B920-D7A568E95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1757" y="4306849"/>
              <a:ext cx="378624" cy="350441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83" name="mainfrm">
              <a:extLst>
                <a:ext uri="{FF2B5EF4-FFF2-40B4-BE49-F238E27FC236}">
                  <a16:creationId xmlns:a16="http://schemas.microsoft.com/office/drawing/2014/main" id="{DA71B978-9070-9912-9A31-DC6DE27D4F39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0691757" y="4360763"/>
              <a:ext cx="324710" cy="2965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84" name="Oval 152">
            <a:extLst>
              <a:ext uri="{FF2B5EF4-FFF2-40B4-BE49-F238E27FC236}">
                <a16:creationId xmlns:a16="http://schemas.microsoft.com/office/drawing/2014/main" id="{83C93664-CAD9-4FEF-2AC5-6C87806E5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2924" y="4191970"/>
            <a:ext cx="399405" cy="39809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2000" b="1" dirty="0">
                <a:latin typeface="Tahoma" panose="020B0604030504040204" pitchFamily="34" charset="0"/>
              </a:rPr>
              <a:t>A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20813EA-A2AD-FD72-A45C-033FD0BCF0E9}"/>
              </a:ext>
            </a:extLst>
          </p:cNvPr>
          <p:cNvGrpSpPr/>
          <p:nvPr/>
        </p:nvGrpSpPr>
        <p:grpSpPr>
          <a:xfrm>
            <a:off x="2374304" y="3820473"/>
            <a:ext cx="1407366" cy="1512597"/>
            <a:chOff x="1856440" y="3395997"/>
            <a:chExt cx="1407366" cy="1512597"/>
          </a:xfrm>
        </p:grpSpPr>
        <p:sp>
          <p:nvSpPr>
            <p:cNvPr id="85" name="Text Box 169">
              <a:extLst>
                <a:ext uri="{FF2B5EF4-FFF2-40B4-BE49-F238E27FC236}">
                  <a16:creationId xmlns:a16="http://schemas.microsoft.com/office/drawing/2014/main" id="{0A2E3EC3-5026-A9BC-D6CE-CED457871B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6440" y="4537081"/>
              <a:ext cx="1407366" cy="3715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800" b="1"/>
                <a:t>client</a:t>
              </a:r>
            </a:p>
          </p:txBody>
        </p:sp>
        <p:pic>
          <p:nvPicPr>
            <p:cNvPr id="86" name="Picture 231">
              <a:extLst>
                <a:ext uri="{FF2B5EF4-FFF2-40B4-BE49-F238E27FC236}">
                  <a16:creationId xmlns:a16="http://schemas.microsoft.com/office/drawing/2014/main" id="{802EE8E3-E3C4-44EE-BFCC-738FDB46E3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24807" y="3395997"/>
              <a:ext cx="1238999" cy="11410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91" name="Text Box 136">
            <a:extLst>
              <a:ext uri="{FF2B5EF4-FFF2-40B4-BE49-F238E27FC236}">
                <a16:creationId xmlns:a16="http://schemas.microsoft.com/office/drawing/2014/main" id="{C11295EF-8D6A-29DE-C4D8-3DEE8825B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8049" y="5302906"/>
            <a:ext cx="1849153" cy="369332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b="1" dirty="0">
                <a:latin typeface="Courier New" panose="02070309020205020404" pitchFamily="49" charset="0"/>
              </a:rPr>
              <a:t>10.0.0.0/24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D0645F8-D27E-CFDE-D021-1F0FD280FFAF}"/>
              </a:ext>
            </a:extLst>
          </p:cNvPr>
          <p:cNvCxnSpPr>
            <a:stCxn id="84" idx="4"/>
            <a:endCxn id="91" idx="0"/>
          </p:cNvCxnSpPr>
          <p:nvPr/>
        </p:nvCxnSpPr>
        <p:spPr>
          <a:xfrm flipH="1">
            <a:off x="6112626" y="4590060"/>
            <a:ext cx="1" cy="712846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Group 123">
            <a:extLst>
              <a:ext uri="{FF2B5EF4-FFF2-40B4-BE49-F238E27FC236}">
                <a16:creationId xmlns:a16="http://schemas.microsoft.com/office/drawing/2014/main" id="{4F8E4927-7A77-A5BB-005F-480991B54E36}"/>
              </a:ext>
            </a:extLst>
          </p:cNvPr>
          <p:cNvGrpSpPr>
            <a:grpSpLocks/>
          </p:cNvGrpSpPr>
          <p:nvPr/>
        </p:nvGrpSpPr>
        <p:grpSpPr bwMode="auto">
          <a:xfrm>
            <a:off x="3950037" y="4209060"/>
            <a:ext cx="457200" cy="381000"/>
            <a:chOff x="144" y="3264"/>
            <a:chExt cx="288" cy="240"/>
          </a:xfrm>
        </p:grpSpPr>
        <p:sp>
          <p:nvSpPr>
            <p:cNvPr id="96" name="Rectangle 124">
              <a:extLst>
                <a:ext uri="{FF2B5EF4-FFF2-40B4-BE49-F238E27FC236}">
                  <a16:creationId xmlns:a16="http://schemas.microsoft.com/office/drawing/2014/main" id="{222948C5-1FAB-17B5-35CB-1EB15BFAB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2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97" name="Rectangle 125">
              <a:extLst>
                <a:ext uri="{FF2B5EF4-FFF2-40B4-BE49-F238E27FC236}">
                  <a16:creationId xmlns:a16="http://schemas.microsoft.com/office/drawing/2014/main" id="{6E1A8AB9-BE28-A7D0-3827-E5347851A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200" b="1" dirty="0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101" name="Group 123">
            <a:extLst>
              <a:ext uri="{FF2B5EF4-FFF2-40B4-BE49-F238E27FC236}">
                <a16:creationId xmlns:a16="http://schemas.microsoft.com/office/drawing/2014/main" id="{3438B068-7BE2-0A07-E9B4-74949572AB69}"/>
              </a:ext>
            </a:extLst>
          </p:cNvPr>
          <p:cNvGrpSpPr>
            <a:grpSpLocks/>
          </p:cNvGrpSpPr>
          <p:nvPr/>
        </p:nvGrpSpPr>
        <p:grpSpPr bwMode="auto">
          <a:xfrm>
            <a:off x="7818016" y="4209060"/>
            <a:ext cx="457200" cy="381000"/>
            <a:chOff x="144" y="3264"/>
            <a:chExt cx="288" cy="240"/>
          </a:xfrm>
        </p:grpSpPr>
        <p:sp>
          <p:nvSpPr>
            <p:cNvPr id="102" name="Rectangle 124">
              <a:extLst>
                <a:ext uri="{FF2B5EF4-FFF2-40B4-BE49-F238E27FC236}">
                  <a16:creationId xmlns:a16="http://schemas.microsoft.com/office/drawing/2014/main" id="{0D857AA5-8643-A5A5-F828-62B8F0B52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2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103" name="Rectangle 125">
              <a:extLst>
                <a:ext uri="{FF2B5EF4-FFF2-40B4-BE49-F238E27FC236}">
                  <a16:creationId xmlns:a16="http://schemas.microsoft.com/office/drawing/2014/main" id="{7A00859F-3243-E233-5399-9A70A4814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200" b="1" dirty="0">
                  <a:latin typeface="Courier New" panose="02070309020205020404" pitchFamily="49" charset="0"/>
                </a:rPr>
                <a:t>3</a:t>
              </a:r>
            </a:p>
          </p:txBody>
        </p:sp>
      </p:grpSp>
      <p:sp>
        <p:nvSpPr>
          <p:cNvPr id="104" name="Rectangle 125">
            <a:extLst>
              <a:ext uri="{FF2B5EF4-FFF2-40B4-BE49-F238E27FC236}">
                <a16:creationId xmlns:a16="http://schemas.microsoft.com/office/drawing/2014/main" id="{74EF3A19-79AB-65C4-8DAD-D8557E5C7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0037" y="4590060"/>
            <a:ext cx="457200" cy="18415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it-IT" altLang="it-IT" sz="1200" b="1" dirty="0">
                <a:latin typeface="Courier New" panose="02070309020205020404" pitchFamily="49" charset="0"/>
              </a:rPr>
              <a:t>rxe0</a:t>
            </a:r>
          </a:p>
        </p:txBody>
      </p:sp>
      <p:sp>
        <p:nvSpPr>
          <p:cNvPr id="105" name="Rectangle 125">
            <a:extLst>
              <a:ext uri="{FF2B5EF4-FFF2-40B4-BE49-F238E27FC236}">
                <a16:creationId xmlns:a16="http://schemas.microsoft.com/office/drawing/2014/main" id="{BFBC3919-E448-0BEF-FEAF-D554AA9E0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8016" y="4590060"/>
            <a:ext cx="457200" cy="18415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it-IT" altLang="it-IT" sz="1200" b="1" dirty="0">
                <a:latin typeface="Courier New" panose="02070309020205020404" pitchFamily="49" charset="0"/>
              </a:rPr>
              <a:t>rxe1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004545C-28BD-9984-89AD-8ADF0BE94ED3}"/>
              </a:ext>
            </a:extLst>
          </p:cNvPr>
          <p:cNvSpPr txBox="1"/>
          <p:nvPr/>
        </p:nvSpPr>
        <p:spPr>
          <a:xfrm>
            <a:off x="3246354" y="5594991"/>
            <a:ext cx="140736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SoftRoCE</a:t>
            </a:r>
            <a:b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virtual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iface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07" name="Straight Arrow Connector 8">
            <a:extLst>
              <a:ext uri="{FF2B5EF4-FFF2-40B4-BE49-F238E27FC236}">
                <a16:creationId xmlns:a16="http://schemas.microsoft.com/office/drawing/2014/main" id="{DF982B9E-9670-1A0A-6906-D601D276B3E1}"/>
              </a:ext>
            </a:extLst>
          </p:cNvPr>
          <p:cNvCxnSpPr>
            <a:cxnSpLocks/>
            <a:stCxn id="106" idx="0"/>
            <a:endCxn id="104" idx="2"/>
          </p:cNvCxnSpPr>
          <p:nvPr/>
        </p:nvCxnSpPr>
        <p:spPr>
          <a:xfrm flipV="1">
            <a:off x="3950037" y="4774210"/>
            <a:ext cx="228600" cy="8207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7DD8EC0B-0DDA-69D6-7A9D-0FED375A44D0}"/>
              </a:ext>
            </a:extLst>
          </p:cNvPr>
          <p:cNvGrpSpPr/>
          <p:nvPr/>
        </p:nvGrpSpPr>
        <p:grpSpPr>
          <a:xfrm>
            <a:off x="5535789" y="1796503"/>
            <a:ext cx="1153672" cy="1165100"/>
            <a:chOff x="5415921" y="1919146"/>
            <a:chExt cx="1153672" cy="1165100"/>
          </a:xfrm>
        </p:grpSpPr>
        <p:sp>
          <p:nvSpPr>
            <p:cNvPr id="113" name="Text Box 169">
              <a:extLst>
                <a:ext uri="{FF2B5EF4-FFF2-40B4-BE49-F238E27FC236}">
                  <a16:creationId xmlns:a16="http://schemas.microsoft.com/office/drawing/2014/main" id="{F468023D-D44B-8447-CC80-CFCB8FC7D7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61471" y="2712733"/>
              <a:ext cx="1062572" cy="3715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800" b="1" dirty="0"/>
                <a:t>tapper</a:t>
              </a:r>
            </a:p>
          </p:txBody>
        </p:sp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208800F1-EDF9-5DFC-8CCA-559DD5C6C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39188"/>
            <a:stretch/>
          </p:blipFill>
          <p:spPr>
            <a:xfrm>
              <a:off x="5415921" y="1919146"/>
              <a:ext cx="1153672" cy="701570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</p:pic>
      </p:grp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458406FB-7AA7-7720-B33C-54E287C6DDFE}"/>
              </a:ext>
            </a:extLst>
          </p:cNvPr>
          <p:cNvCxnSpPr>
            <a:cxnSpLocks/>
            <a:stCxn id="113" idx="2"/>
            <a:endCxn id="84" idx="0"/>
          </p:cNvCxnSpPr>
          <p:nvPr/>
        </p:nvCxnSpPr>
        <p:spPr>
          <a:xfrm>
            <a:off x="6112625" y="2961603"/>
            <a:ext cx="2" cy="123036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124">
            <a:extLst>
              <a:ext uri="{FF2B5EF4-FFF2-40B4-BE49-F238E27FC236}">
                <a16:creationId xmlns:a16="http://schemas.microsoft.com/office/drawing/2014/main" id="{42FFE2DF-27F2-9319-784C-9ADC6EB66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4025" y="2956052"/>
            <a:ext cx="457200" cy="19685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it-IT" altLang="it-IT" sz="1200" b="1">
                <a:latin typeface="Courier New" panose="02070309020205020404" pitchFamily="49" charset="0"/>
              </a:rPr>
              <a:t>eth0</a:t>
            </a:r>
          </a:p>
        </p:txBody>
      </p:sp>
    </p:spTree>
    <p:extLst>
      <p:ext uri="{BB962C8B-B14F-4D97-AF65-F5344CB8AC3E}">
        <p14:creationId xmlns:p14="http://schemas.microsoft.com/office/powerpoint/2010/main" val="2925360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6120D-2967-F056-F58D-BE58E55D1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BAB67-9D59-31C3-EC68-182641409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SoftRoCE</a:t>
            </a:r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29F8E-468B-575D-1B8B-BB46A06AA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RDMA operations require hardware support</a:t>
            </a:r>
          </a:p>
          <a:p>
            <a:r>
              <a:rPr lang="en-US" b="1" dirty="0" err="1"/>
              <a:t>SoftRoCE</a:t>
            </a:r>
            <a:r>
              <a:rPr lang="en-US" dirty="0"/>
              <a:t> is a software implementation of RoCE in Linux</a:t>
            </a:r>
          </a:p>
          <a:p>
            <a:pPr lvl="1"/>
            <a:r>
              <a:rPr lang="en-US" dirty="0"/>
              <a:t>in particular RoCEv2</a:t>
            </a:r>
          </a:p>
          <a:p>
            <a:r>
              <a:rPr lang="en-US" dirty="0"/>
              <a:t>allows RDMA applications to run without real RNICs</a:t>
            </a:r>
          </a:p>
          <a:p>
            <a:r>
              <a:rPr lang="en-US" dirty="0" err="1"/>
              <a:t>SoftRoCE</a:t>
            </a:r>
            <a:r>
              <a:rPr lang="en-US" dirty="0"/>
              <a:t> has poor performance </a:t>
            </a:r>
            <a:r>
              <a:rPr lang="en-US" dirty="0" err="1"/>
              <a:t>w.r.t.</a:t>
            </a:r>
            <a:r>
              <a:rPr lang="en-US" dirty="0"/>
              <a:t> hardware</a:t>
            </a:r>
          </a:p>
          <a:p>
            <a:pPr lvl="1"/>
            <a:r>
              <a:rPr lang="en-US" dirty="0"/>
              <a:t>all operations are processed by the CPU</a:t>
            </a:r>
          </a:p>
          <a:p>
            <a:r>
              <a:rPr lang="en-US" dirty="0"/>
              <a:t>useful for emulation</a:t>
            </a:r>
          </a:p>
          <a:p>
            <a:pPr lvl="1"/>
            <a:r>
              <a:rPr lang="en-US" dirty="0"/>
              <a:t>it mimics RNICs behavior and accesses the same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ibverbs</a:t>
            </a:r>
            <a:r>
              <a:rPr lang="en-US" dirty="0"/>
              <a:t> APIs</a:t>
            </a:r>
          </a:p>
        </p:txBody>
      </p:sp>
    </p:spTree>
    <p:extLst>
      <p:ext uri="{BB962C8B-B14F-4D97-AF65-F5344CB8AC3E}">
        <p14:creationId xmlns:p14="http://schemas.microsoft.com/office/powerpoint/2010/main" val="23925467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180BE-8996-C627-F324-EC6C3F8DA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73F7C-7045-BB21-BF2D-30D06C92A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SoftRoCE</a:t>
            </a:r>
            <a:r>
              <a:rPr lang="en-GB" dirty="0"/>
              <a:t> configuration example</a:t>
            </a:r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id="{0868DD50-C84B-EFAA-5BC2-297ACA2B23B2}"/>
              </a:ext>
            </a:extLst>
          </p:cNvPr>
          <p:cNvGrpSpPr>
            <a:grpSpLocks/>
          </p:cNvGrpSpPr>
          <p:nvPr/>
        </p:nvGrpSpPr>
        <p:grpSpPr bwMode="auto">
          <a:xfrm>
            <a:off x="722499" y="2141138"/>
            <a:ext cx="5747659" cy="1450975"/>
            <a:chOff x="126" y="2432"/>
            <a:chExt cx="7604" cy="914"/>
          </a:xfrm>
        </p:grpSpPr>
        <p:sp>
          <p:nvSpPr>
            <p:cNvPr id="4" name="AutoShape 5">
              <a:extLst>
                <a:ext uri="{FF2B5EF4-FFF2-40B4-BE49-F238E27FC236}">
                  <a16:creationId xmlns:a16="http://schemas.microsoft.com/office/drawing/2014/main" id="{7BA8A7A2-1557-4C58-94CE-114493D86F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26"/>
              <a:ext cx="7604" cy="720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</a:rPr>
                <a:t>addr</a:t>
              </a:r>
              <a:r>
                <a:rPr lang="en-US" altLang="it-IT" sz="1600" b="1" dirty="0">
                  <a:latin typeface="Consolas" panose="020B0609020204030204" pitchFamily="49" charset="0"/>
                </a:rPr>
                <a:t> add 10.0.0.2/24 dev eth0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latin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</a:rPr>
                <a:t>rdma</a:t>
              </a:r>
              <a:r>
                <a:rPr lang="en-US" altLang="it-IT" sz="1600" b="1" dirty="0">
                  <a:latin typeface="Consolas" panose="020B0609020204030204" pitchFamily="49" charset="0"/>
                </a:rPr>
                <a:t> link add rxe0 type </a:t>
              </a:r>
              <a:r>
                <a:rPr lang="en-US" altLang="it-IT" sz="1600" b="1" dirty="0" err="1">
                  <a:latin typeface="Consolas" panose="020B0609020204030204" pitchFamily="49" charset="0"/>
                </a:rPr>
                <a:t>rxe</a:t>
              </a:r>
              <a:r>
                <a:rPr lang="en-US" altLang="it-IT" sz="1600" b="1" dirty="0">
                  <a:latin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</a:rPr>
                <a:t>netdev</a:t>
              </a:r>
              <a:r>
                <a:rPr lang="en-US" altLang="it-IT" sz="1600" b="1" dirty="0">
                  <a:latin typeface="Consolas" panose="020B0609020204030204" pitchFamily="49" charset="0"/>
                </a:rPr>
                <a:t> eth0</a:t>
              </a:r>
            </a:p>
          </p:txBody>
        </p:sp>
        <p:sp>
          <p:nvSpPr>
            <p:cNvPr id="8" name="AutoShape 9">
              <a:extLst>
                <a:ext uri="{FF2B5EF4-FFF2-40B4-BE49-F238E27FC236}">
                  <a16:creationId xmlns:a16="http://schemas.microsoft.com/office/drawing/2014/main" id="{AD4A53A6-349D-5107-A49F-54A40AB6BD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4239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client.startup</a:t>
              </a: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03F800B-776D-F945-DA27-BD7F68662C15}"/>
              </a:ext>
            </a:extLst>
          </p:cNvPr>
          <p:cNvSpPr txBox="1"/>
          <p:nvPr/>
        </p:nvSpPr>
        <p:spPr>
          <a:xfrm>
            <a:off x="976909" y="4818750"/>
            <a:ext cx="328958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 of the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SoftRoCE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iface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8A26C7-23B2-81ED-8C97-B81C552F5386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2621701" y="3242698"/>
            <a:ext cx="0" cy="15760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8468B81-F1B1-C172-3BAD-A4395AEB4B5E}"/>
              </a:ext>
            </a:extLst>
          </p:cNvPr>
          <p:cNvSpPr txBox="1"/>
          <p:nvPr/>
        </p:nvSpPr>
        <p:spPr>
          <a:xfrm>
            <a:off x="7278283" y="3741218"/>
            <a:ext cx="4584031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physical interface that is used to send RoCE packets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B91FE1D-1671-C399-AE8F-61298E21869D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4913718" y="3242698"/>
            <a:ext cx="2364565" cy="82168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9AC12C8-71AB-6803-3D77-6EEB78BDE171}"/>
              </a:ext>
            </a:extLst>
          </p:cNvPr>
          <p:cNvSpPr txBox="1"/>
          <p:nvPr/>
        </p:nvSpPr>
        <p:spPr>
          <a:xfrm>
            <a:off x="4451208" y="4818750"/>
            <a:ext cx="3289583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 of the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SoftRoCE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iface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GB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rxe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RoCE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F57575C-6DA2-A225-36A4-C9053C25FA1C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3349464" y="3318898"/>
            <a:ext cx="2746536" cy="14998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799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083CC-E2F3-F047-B4C8-60D039108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87290-820F-8A90-AA84-89FD9AE6A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goal of the lab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931671A7-C470-BA97-B591-988E4C4B5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establish an IB connection between 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client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server</a:t>
            </a:r>
          </a:p>
          <a:p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client</a:t>
            </a:r>
            <a:r>
              <a:rPr lang="en-US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loads a database of book titles in its local memory that needs to be exchanged with the 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server</a:t>
            </a:r>
          </a:p>
        </p:txBody>
      </p:sp>
    </p:spTree>
    <p:extLst>
      <p:ext uri="{BB962C8B-B14F-4D97-AF65-F5344CB8AC3E}">
        <p14:creationId xmlns:p14="http://schemas.microsoft.com/office/powerpoint/2010/main" val="18902599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451DD-9CE0-3ECB-08B4-6A47C45B2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C98D8-AE88-5F56-9CC5-42205685B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1: complete the 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A536E-3873-8BF8-820A-2489FB6C1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configure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server</a:t>
            </a:r>
            <a:r>
              <a:rPr lang="en-US" dirty="0"/>
              <a:t> device</a:t>
            </a:r>
          </a:p>
          <a:p>
            <a:r>
              <a:rPr lang="en-US" dirty="0"/>
              <a:t>write the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server.startup</a:t>
            </a:r>
            <a:r>
              <a:rPr lang="en-US" dirty="0"/>
              <a:t> file</a:t>
            </a:r>
          </a:p>
          <a:p>
            <a:pPr lvl="1"/>
            <a:r>
              <a:rPr lang="en-US" dirty="0"/>
              <a:t>configure the correct IP address 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eth0</a:t>
            </a:r>
          </a:p>
          <a:p>
            <a:pPr lvl="1"/>
            <a:r>
              <a:rPr lang="en-US" dirty="0"/>
              <a:t>create the </a:t>
            </a:r>
            <a:r>
              <a:rPr lang="en-US" dirty="0" err="1"/>
              <a:t>SoftRoCE</a:t>
            </a:r>
            <a:r>
              <a:rPr lang="en-US" dirty="0"/>
              <a:t> interface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named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rxe1</a:t>
            </a:r>
            <a:r>
              <a:rPr lang="en-US" dirty="0"/>
              <a:t>, attached to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eth0</a:t>
            </a:r>
          </a:p>
        </p:txBody>
      </p:sp>
    </p:spTree>
    <p:extLst>
      <p:ext uri="{BB962C8B-B14F-4D97-AF65-F5344CB8AC3E}">
        <p14:creationId xmlns:p14="http://schemas.microsoft.com/office/powerpoint/2010/main" val="31344792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944BF-8585-0877-B715-99E09D37E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C77ED-E402-6442-27CA-560F20462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start the lab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6A5C78CC-706D-301B-CF41-96159F6EF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1771092"/>
          </a:xfrm>
        </p:spPr>
        <p:txBody>
          <a:bodyPr/>
          <a:lstStyle/>
          <a:p>
            <a:r>
              <a:rPr lang="en-GB" dirty="0"/>
              <a:t>open a terminal</a:t>
            </a:r>
          </a:p>
          <a:p>
            <a:r>
              <a:rPr lang="en-GB" dirty="0"/>
              <a:t>enter the lab directory (</a:t>
            </a:r>
            <a:r>
              <a:rPr lang="en-GB" b="1" dirty="0">
                <a:latin typeface="Consolas" panose="020B0609020204030204" pitchFamily="49" charset="0"/>
              </a:rPr>
              <a:t>cd </a:t>
            </a:r>
            <a:r>
              <a:rPr lang="en-GB" b="1" dirty="0" err="1">
                <a:latin typeface="Consolas" panose="020B0609020204030204" pitchFamily="49" charset="0"/>
              </a:rPr>
              <a:t>lab_directory</a:t>
            </a:r>
            <a:r>
              <a:rPr lang="en-GB" dirty="0"/>
              <a:t>)</a:t>
            </a:r>
          </a:p>
          <a:p>
            <a:r>
              <a:rPr lang="en-GB" dirty="0"/>
              <a:t>run </a:t>
            </a: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sudo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kathara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lstart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 --privileged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8DB24C-A8B7-88F2-F089-47708C5F5B57}"/>
              </a:ext>
            </a:extLst>
          </p:cNvPr>
          <p:cNvSpPr txBox="1"/>
          <p:nvPr/>
        </p:nvSpPr>
        <p:spPr>
          <a:xfrm>
            <a:off x="6677372" y="3912592"/>
            <a:ext cx="360962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 devices with full root privileges (required by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SoftRoCE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</p:txBody>
      </p:sp>
      <p:cxnSp>
        <p:nvCxnSpPr>
          <p:cNvPr id="4" name="Straight Arrow Connector 8">
            <a:extLst>
              <a:ext uri="{FF2B5EF4-FFF2-40B4-BE49-F238E27FC236}">
                <a16:creationId xmlns:a16="http://schemas.microsoft.com/office/drawing/2014/main" id="{44187889-FA21-3F53-5A78-97DB368F58AE}"/>
              </a:ext>
            </a:extLst>
          </p:cNvPr>
          <p:cNvCxnSpPr>
            <a:cxnSpLocks/>
            <a:stCxn id="3" idx="0"/>
          </p:cNvCxnSpPr>
          <p:nvPr/>
        </p:nvCxnSpPr>
        <p:spPr>
          <a:xfrm flipH="1" flipV="1">
            <a:off x="7742713" y="3183869"/>
            <a:ext cx="739473" cy="7287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3AA24F9-D240-2FA7-FBB4-17488AF0FBDE}"/>
              </a:ext>
            </a:extLst>
          </p:cNvPr>
          <p:cNvSpPr txBox="1"/>
          <p:nvPr/>
        </p:nvSpPr>
        <p:spPr>
          <a:xfrm>
            <a:off x="3064293" y="3912592"/>
            <a:ext cx="303170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Kathará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requires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sudo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 run in privileged mode</a:t>
            </a:r>
          </a:p>
        </p:txBody>
      </p:sp>
      <p:cxnSp>
        <p:nvCxnSpPr>
          <p:cNvPr id="7" name="Straight Arrow Connector 8">
            <a:extLst>
              <a:ext uri="{FF2B5EF4-FFF2-40B4-BE49-F238E27FC236}">
                <a16:creationId xmlns:a16="http://schemas.microsoft.com/office/drawing/2014/main" id="{AB5DB188-3365-1723-FED7-09C40F163313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4580147" y="3183869"/>
            <a:ext cx="3084374" cy="7287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D4EAECC-9ECA-6591-64A9-9D38F3A45C6E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2188396" y="3142673"/>
            <a:ext cx="2391751" cy="7699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16433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0B32D-1307-02ED-66D2-36CFE0729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7C8EC-5896-FF97-4130-7DB9B393B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2: complete the IB connections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02F6-30F8-ECF6-BE29-3C023D604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shared</a:t>
            </a:r>
            <a:r>
              <a:rPr lang="en-US" dirty="0"/>
              <a:t> folder of the lab you will find two Python scripts</a:t>
            </a:r>
          </a:p>
          <a:p>
            <a:pPr lvl="1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client.py</a:t>
            </a:r>
            <a:r>
              <a:rPr lang="en-US" dirty="0"/>
              <a:t> and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server.py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/>
              <a:t>the client-side connection is configured, you need to complete the server-side connection</a:t>
            </a:r>
          </a:p>
        </p:txBody>
      </p:sp>
    </p:spTree>
    <p:extLst>
      <p:ext uri="{BB962C8B-B14F-4D97-AF65-F5344CB8AC3E}">
        <p14:creationId xmlns:p14="http://schemas.microsoft.com/office/powerpoint/2010/main" val="38753507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DFAE3-2590-1692-0B20-FC1ADC32E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164F0-34A6-BEE3-6C86-2BBB54A72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2: complete the IB connections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205F3-1C1F-486D-18D1-35DE21346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open the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server.py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800" dirty="0"/>
              <a:t>as previously discussed, client and server need to exchange QP information to proceed in RTR</a:t>
            </a:r>
          </a:p>
          <a:p>
            <a:r>
              <a:rPr lang="en-US" sz="2800" dirty="0"/>
              <a:t>the client waits for the server information first</a:t>
            </a:r>
          </a:p>
          <a:p>
            <a:r>
              <a:rPr lang="en-US" sz="2800" dirty="0"/>
              <a:t>you need to (follow “TODO 1”):</a:t>
            </a:r>
          </a:p>
          <a:p>
            <a:pPr lvl="1"/>
            <a:r>
              <a:rPr lang="en-US" sz="2400" dirty="0"/>
              <a:t>send server’s local information to the client</a:t>
            </a:r>
          </a:p>
          <a:p>
            <a:pPr lvl="2"/>
            <a:r>
              <a:rPr lang="en-US" sz="2000" dirty="0"/>
              <a:t>using the socket object called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conn</a:t>
            </a:r>
          </a:p>
          <a:p>
            <a:pPr lvl="1"/>
            <a:r>
              <a:rPr lang="en-US" sz="2400" dirty="0"/>
              <a:t>receive client’s information and decode the result</a:t>
            </a:r>
          </a:p>
          <a:p>
            <a:pPr lvl="2"/>
            <a:r>
              <a:rPr lang="en-US" sz="2000" dirty="0"/>
              <a:t>using the socket object called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conn</a:t>
            </a:r>
            <a:endParaRPr lang="en-US" sz="2000" dirty="0"/>
          </a:p>
          <a:p>
            <a:r>
              <a:rPr lang="en-US" sz="2800" b="1" dirty="0"/>
              <a:t>hint</a:t>
            </a:r>
            <a:r>
              <a:rPr lang="en-US" sz="2800" dirty="0"/>
              <a:t>: you can look at the code of the client side </a:t>
            </a:r>
            <a:r>
              <a:rPr lang="en-US" sz="2800" dirty="0">
                <a:sym typeface="Wingdings" pitchFamily="2" charset="2"/>
              </a:rPr>
              <a:t>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725315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1D93C-6ED3-392B-D744-4FA97B5F5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A69D-DDDA-4415-1C86-358050350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3: test the IB connection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66946-1E07-0968-5155-F0E31D3CC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 if the IB connection gets established properly</a:t>
            </a:r>
          </a:p>
          <a:p>
            <a:r>
              <a:rPr lang="en-US" dirty="0"/>
              <a:t>on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server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device</a:t>
            </a:r>
            <a:r>
              <a:rPr lang="en-US" dirty="0"/>
              <a:t>:</a:t>
            </a:r>
          </a:p>
          <a:p>
            <a:pPr marL="0" indent="0" algn="ctr">
              <a:buNone/>
            </a:pPr>
            <a:r>
              <a:rPr lang="en-GB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python3 /shared/</a:t>
            </a:r>
            <a:r>
              <a:rPr lang="en-GB" sz="3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server.py</a:t>
            </a:r>
            <a:r>
              <a:rPr lang="en-GB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 rxe1</a:t>
            </a:r>
            <a:endParaRPr lang="en-US" dirty="0"/>
          </a:p>
          <a:p>
            <a:r>
              <a:rPr lang="en-US" dirty="0"/>
              <a:t>on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device</a:t>
            </a:r>
            <a:r>
              <a:rPr lang="en-US" dirty="0"/>
              <a:t>:</a:t>
            </a:r>
          </a:p>
          <a:p>
            <a:pPr marL="0" indent="0" algn="ctr">
              <a:buNone/>
            </a:pPr>
            <a:r>
              <a:rPr lang="en-GB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python3 /shared/</a:t>
            </a:r>
            <a:r>
              <a:rPr lang="en-GB" sz="3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client.py</a:t>
            </a:r>
            <a:r>
              <a:rPr lang="en-GB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 rxe0 10.0.0.3</a:t>
            </a:r>
          </a:p>
          <a:p>
            <a:r>
              <a:rPr lang="en-US" dirty="0"/>
              <a:t>you should see “Connection established” on both sides</a:t>
            </a:r>
          </a:p>
          <a:p>
            <a:r>
              <a:rPr lang="en-US" dirty="0"/>
              <a:t>you can stop the processes by pressing CTRL+C</a:t>
            </a:r>
          </a:p>
        </p:txBody>
      </p:sp>
    </p:spTree>
    <p:extLst>
      <p:ext uri="{BB962C8B-B14F-4D97-AF65-F5344CB8AC3E}">
        <p14:creationId xmlns:p14="http://schemas.microsoft.com/office/powerpoint/2010/main" val="7712026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DB178-88A9-9A0E-FAFE-5D6E20D47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F653D-52FD-765F-7F51-D061AC296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4: posting two-sided verbs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30F17-755F-515D-3A1F-365EBDF01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1895688"/>
          </a:xfrm>
        </p:spPr>
        <p:txBody>
          <a:bodyPr/>
          <a:lstStyle/>
          <a:p>
            <a:r>
              <a:rPr lang="en-US" dirty="0"/>
              <a:t>now we can send the book list from client to server</a:t>
            </a:r>
          </a:p>
          <a:p>
            <a:r>
              <a:rPr lang="en-US" dirty="0"/>
              <a:t>the book list is already loaded in the client’s local MR</a:t>
            </a:r>
          </a:p>
          <a:p>
            <a:r>
              <a:rPr lang="en-US" dirty="0"/>
              <a:t>the list is loaded with the following memory layout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180147-6558-98C4-EB70-ACF03A3970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448882"/>
              </p:ext>
            </p:extLst>
          </p:nvPr>
        </p:nvGraphicFramePr>
        <p:xfrm>
          <a:off x="2712027" y="3549537"/>
          <a:ext cx="4024746" cy="2142938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402475">
                  <a:extLst>
                    <a:ext uri="{9D8B030D-6E8A-4147-A177-3AD203B41FA5}">
                      <a16:colId xmlns:a16="http://schemas.microsoft.com/office/drawing/2014/main" val="2728423502"/>
                    </a:ext>
                  </a:extLst>
                </a:gridCol>
                <a:gridCol w="402474">
                  <a:extLst>
                    <a:ext uri="{9D8B030D-6E8A-4147-A177-3AD203B41FA5}">
                      <a16:colId xmlns:a16="http://schemas.microsoft.com/office/drawing/2014/main" val="1590515733"/>
                    </a:ext>
                  </a:extLst>
                </a:gridCol>
                <a:gridCol w="402475">
                  <a:extLst>
                    <a:ext uri="{9D8B030D-6E8A-4147-A177-3AD203B41FA5}">
                      <a16:colId xmlns:a16="http://schemas.microsoft.com/office/drawing/2014/main" val="102530324"/>
                    </a:ext>
                  </a:extLst>
                </a:gridCol>
                <a:gridCol w="402474">
                  <a:extLst>
                    <a:ext uri="{9D8B030D-6E8A-4147-A177-3AD203B41FA5}">
                      <a16:colId xmlns:a16="http://schemas.microsoft.com/office/drawing/2014/main" val="3204382094"/>
                    </a:ext>
                  </a:extLst>
                </a:gridCol>
                <a:gridCol w="402475">
                  <a:extLst>
                    <a:ext uri="{9D8B030D-6E8A-4147-A177-3AD203B41FA5}">
                      <a16:colId xmlns:a16="http://schemas.microsoft.com/office/drawing/2014/main" val="870417877"/>
                    </a:ext>
                  </a:extLst>
                </a:gridCol>
                <a:gridCol w="402475">
                  <a:extLst>
                    <a:ext uri="{9D8B030D-6E8A-4147-A177-3AD203B41FA5}">
                      <a16:colId xmlns:a16="http://schemas.microsoft.com/office/drawing/2014/main" val="4184768945"/>
                    </a:ext>
                  </a:extLst>
                </a:gridCol>
                <a:gridCol w="402474">
                  <a:extLst>
                    <a:ext uri="{9D8B030D-6E8A-4147-A177-3AD203B41FA5}">
                      <a16:colId xmlns:a16="http://schemas.microsoft.com/office/drawing/2014/main" val="23724305"/>
                    </a:ext>
                  </a:extLst>
                </a:gridCol>
                <a:gridCol w="402475">
                  <a:extLst>
                    <a:ext uri="{9D8B030D-6E8A-4147-A177-3AD203B41FA5}">
                      <a16:colId xmlns:a16="http://schemas.microsoft.com/office/drawing/2014/main" val="3561444156"/>
                    </a:ext>
                  </a:extLst>
                </a:gridCol>
                <a:gridCol w="402474">
                  <a:extLst>
                    <a:ext uri="{9D8B030D-6E8A-4147-A177-3AD203B41FA5}">
                      <a16:colId xmlns:a16="http://schemas.microsoft.com/office/drawing/2014/main" val="998064271"/>
                    </a:ext>
                  </a:extLst>
                </a:gridCol>
                <a:gridCol w="402475">
                  <a:extLst>
                    <a:ext uri="{9D8B030D-6E8A-4147-A177-3AD203B41FA5}">
                      <a16:colId xmlns:a16="http://schemas.microsoft.com/office/drawing/2014/main" val="2883895132"/>
                    </a:ext>
                  </a:extLst>
                </a:gridCol>
              </a:tblGrid>
              <a:tr h="306134">
                <a:tc gridSpan="9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title 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634941"/>
                  </a:ext>
                </a:extLst>
              </a:tr>
              <a:tr h="30613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2147349"/>
                  </a:ext>
                </a:extLst>
              </a:tr>
              <a:tr h="306134">
                <a:tc gridSpan="9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title 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63866"/>
                  </a:ext>
                </a:extLst>
              </a:tr>
              <a:tr h="30613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113853"/>
                  </a:ext>
                </a:extLst>
              </a:tr>
              <a:tr h="306134">
                <a:tc gridSpan="10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...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869477"/>
                  </a:ext>
                </a:extLst>
              </a:tr>
              <a:tr h="306134">
                <a:tc gridSpan="9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title 32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514565"/>
                  </a:ext>
                </a:extLst>
              </a:tr>
              <a:tr h="30613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23982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D3E8CEE-2260-5FAB-453F-716D05333BE5}"/>
              </a:ext>
            </a:extLst>
          </p:cNvPr>
          <p:cNvSpPr txBox="1"/>
          <p:nvPr/>
        </p:nvSpPr>
        <p:spPr>
          <a:xfrm>
            <a:off x="7471558" y="3461610"/>
            <a:ext cx="401682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string terminator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EE0AD10-D00F-EA98-695C-76D8C76952BE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6736773" y="3646276"/>
            <a:ext cx="734785" cy="612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C1A5384-479F-9837-F6A0-DBC4F4FFA8C4}"/>
              </a:ext>
            </a:extLst>
          </p:cNvPr>
          <p:cNvSpPr txBox="1"/>
          <p:nvPr/>
        </p:nvSpPr>
        <p:spPr>
          <a:xfrm>
            <a:off x="7471558" y="3921659"/>
            <a:ext cx="401682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 Bytes </a:t>
            </a:r>
            <a:r>
              <a:rPr lang="en-GB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0xff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padding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68A559A-BBDD-BF75-0B85-197AE613F2BF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6736773" y="4015608"/>
            <a:ext cx="734785" cy="907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5281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30BF2-A68E-6A90-7D90-2D5629504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39A2D-4EB8-3BB4-06FB-F494C86AC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4: posting two-sided verbs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28948-A8DC-F1AA-F40C-FBAD23BEE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send the book list using two-sided verbs</a:t>
            </a:r>
          </a:p>
          <a:p>
            <a:r>
              <a:rPr lang="en-US" sz="2800" dirty="0"/>
              <a:t>on the 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sz="2800" dirty="0"/>
              <a:t> device (follow the TODOs):</a:t>
            </a:r>
          </a:p>
          <a:p>
            <a:pPr lvl="1"/>
            <a:r>
              <a:rPr lang="en-US" sz="2400" dirty="0"/>
              <a:t>prepare a SGE list to read </a:t>
            </a:r>
            <a:r>
              <a:rPr lang="en-US" sz="2400" u="sng" dirty="0"/>
              <a:t>ONLY</a:t>
            </a:r>
            <a:r>
              <a:rPr lang="en-US" sz="2400" dirty="0"/>
              <a:t> book titles (without padding)</a:t>
            </a:r>
          </a:p>
          <a:p>
            <a:pPr lvl="2"/>
            <a:r>
              <a:rPr lang="en-US" sz="2000" dirty="0"/>
              <a:t>the code exposes a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dict</a:t>
            </a:r>
            <a:r>
              <a:rPr lang="en-US" sz="2000" dirty="0"/>
              <a:t> books in which the key is the book title, and the value is the length of the string</a:t>
            </a:r>
          </a:p>
          <a:p>
            <a:pPr lvl="2"/>
            <a:r>
              <a:rPr lang="en-US" sz="2000" dirty="0"/>
              <a:t>the code already initializes a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sge_buff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 move in the buffer (starting MR address)</a:t>
            </a:r>
          </a:p>
          <a:p>
            <a:pPr lvl="2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code exposes a </a:t>
            </a:r>
            <a:r>
              <a:rPr lang="en-US" sz="20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PADDING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constant that is the length of the padding in bytes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 a WR (containing the previously defined SGE list) using the SEND verb on the Send Queue</a:t>
            </a:r>
          </a:p>
          <a:p>
            <a:pPr lvl="2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assign a WR ID = 1 to the request</a:t>
            </a:r>
          </a:p>
        </p:txBody>
      </p:sp>
    </p:spTree>
    <p:extLst>
      <p:ext uri="{BB962C8B-B14F-4D97-AF65-F5344CB8AC3E}">
        <p14:creationId xmlns:p14="http://schemas.microsoft.com/office/powerpoint/2010/main" val="30786639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5CB14-2802-8BBF-541B-DB342F404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F8CDC-962E-0E54-B0E9-AA03AF59F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4: posting two-sided verbs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9120C-12BE-D1D0-654D-AB0837214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 the book list using two-sided verbs</a:t>
            </a:r>
          </a:p>
          <a:p>
            <a:r>
              <a:rPr lang="en-US" dirty="0"/>
              <a:t>on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server</a:t>
            </a:r>
            <a:r>
              <a:rPr lang="en-US" dirty="0"/>
              <a:t> device (follow “TODO 2”):</a:t>
            </a:r>
          </a:p>
          <a:p>
            <a:pPr lvl="1"/>
            <a:r>
              <a:rPr lang="en-US" dirty="0"/>
              <a:t>prepare a single SGE to receive data</a:t>
            </a:r>
          </a:p>
          <a:p>
            <a:pPr lvl="2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SGE writes data starting from the first MR location (</a:t>
            </a:r>
            <a:r>
              <a:rPr lang="en-US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mr.buf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lvl="2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length is </a:t>
            </a:r>
            <a:r>
              <a:rPr lang="en-US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BUFFER_SIZE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(we do not know the size of the data)</a:t>
            </a:r>
          </a:p>
          <a:p>
            <a:pPr lv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 a WR (containing the previously defined SGE) on the Receive Queue</a:t>
            </a:r>
          </a:p>
          <a:p>
            <a:pPr lvl="2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assign a WR ID = 1 to the request</a:t>
            </a:r>
          </a:p>
        </p:txBody>
      </p:sp>
    </p:spTree>
    <p:extLst>
      <p:ext uri="{BB962C8B-B14F-4D97-AF65-F5344CB8AC3E}">
        <p14:creationId xmlns:p14="http://schemas.microsoft.com/office/powerpoint/2010/main" val="19107561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02BA6-8704-2B6B-C223-6501982F7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91DCC-E027-F37A-D83B-60A60847A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4: test the data exchange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C95FF-E383-68F2-023A-AEA7C0FBB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test if the data is exchanged correctly</a:t>
            </a:r>
          </a:p>
          <a:p>
            <a:r>
              <a:rPr lang="en-US" dirty="0"/>
              <a:t>first, let’s start a </a:t>
            </a:r>
            <a:r>
              <a:rPr lang="en-US" dirty="0" err="1"/>
              <a:t>tcpdump</a:t>
            </a:r>
            <a:r>
              <a:rPr lang="en-US" dirty="0"/>
              <a:t> on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tapper</a:t>
            </a:r>
            <a:r>
              <a:rPr lang="en-US" dirty="0"/>
              <a:t> device:</a:t>
            </a:r>
          </a:p>
          <a:p>
            <a:pPr marL="0" indent="0" algn="ctr">
              <a:buNone/>
            </a:pPr>
            <a:r>
              <a:rPr lang="it-IT" sz="3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tcpdump</a:t>
            </a:r>
            <a:r>
              <a:rPr lang="it-IT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 -i eth0 -</a:t>
            </a:r>
            <a:r>
              <a:rPr lang="it-IT" sz="3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w</a:t>
            </a:r>
            <a:r>
              <a:rPr lang="it-IT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 /</a:t>
            </a:r>
            <a:r>
              <a:rPr lang="it-IT" sz="3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shared</a:t>
            </a:r>
            <a:r>
              <a:rPr lang="it-IT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it-IT" sz="3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send.pcap</a:t>
            </a:r>
            <a:endParaRPr lang="en-US" dirty="0"/>
          </a:p>
          <a:p>
            <a:r>
              <a:rPr lang="en-US" dirty="0"/>
              <a:t>on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server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device</a:t>
            </a:r>
            <a:r>
              <a:rPr lang="en-US" dirty="0"/>
              <a:t>:</a:t>
            </a:r>
          </a:p>
          <a:p>
            <a:pPr marL="0" indent="0" algn="ctr">
              <a:buNone/>
            </a:pPr>
            <a:r>
              <a:rPr lang="en-GB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python3 /shared/</a:t>
            </a:r>
            <a:r>
              <a:rPr lang="en-GB" sz="3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server.py</a:t>
            </a:r>
            <a:r>
              <a:rPr lang="en-GB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 rxe1</a:t>
            </a:r>
            <a:endParaRPr lang="en-US" dirty="0"/>
          </a:p>
          <a:p>
            <a:r>
              <a:rPr lang="en-US" dirty="0"/>
              <a:t>on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device</a:t>
            </a:r>
            <a:r>
              <a:rPr lang="en-US" dirty="0"/>
              <a:t>:</a:t>
            </a:r>
          </a:p>
          <a:p>
            <a:pPr marL="0" indent="0" algn="ctr">
              <a:buNone/>
            </a:pPr>
            <a:r>
              <a:rPr lang="en-GB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python3 /shared/</a:t>
            </a:r>
            <a:r>
              <a:rPr lang="en-GB" sz="3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client.py</a:t>
            </a:r>
            <a:r>
              <a:rPr lang="en-GB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 rxe0 10.0.0.3</a:t>
            </a:r>
          </a:p>
          <a:p>
            <a:r>
              <a:rPr lang="en-US" dirty="0"/>
              <a:t>stop all the scripts (and tapper) using CTRL+C</a:t>
            </a:r>
            <a:endParaRPr lang="en-GB" sz="3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9208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60026-71EE-A6C4-502C-61130709C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03F8E-CF23-3F7C-528E-539F529CE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4: test the data exchange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9DBAD-9355-FD26-D0A2-0FF74D9BA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result of the operation on client and server?</a:t>
            </a:r>
          </a:p>
          <a:p>
            <a:r>
              <a:rPr lang="en-US" dirty="0"/>
              <a:t>is the list of book titles printed on the server?</a:t>
            </a:r>
          </a:p>
          <a:p>
            <a:r>
              <a:rPr lang="en-US" dirty="0"/>
              <a:t>can you explain all the steps of the operation?</a:t>
            </a:r>
          </a:p>
          <a:p>
            <a:r>
              <a:rPr lang="en-US" dirty="0"/>
              <a:t>from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shared</a:t>
            </a:r>
            <a:r>
              <a:rPr lang="en-US" dirty="0"/>
              <a:t> folder in the lab directory, open the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send.pcap</a:t>
            </a:r>
            <a:r>
              <a:rPr lang="en-US" dirty="0"/>
              <a:t> file using Wireshark</a:t>
            </a:r>
          </a:p>
          <a:p>
            <a:pPr lvl="1"/>
            <a:r>
              <a:rPr lang="en-US" dirty="0"/>
              <a:t>can you identify the off-band TCP communication?</a:t>
            </a:r>
          </a:p>
          <a:p>
            <a:pPr lvl="1"/>
            <a:r>
              <a:rPr lang="en-US" dirty="0"/>
              <a:t>how many RoCEv2 packets are exchanged?</a:t>
            </a:r>
          </a:p>
          <a:p>
            <a:pPr lvl="1"/>
            <a:r>
              <a:rPr lang="en-US" dirty="0"/>
              <a:t>what is the UDP destination port of RoCEv2?</a:t>
            </a:r>
          </a:p>
          <a:p>
            <a:pPr lvl="1"/>
            <a:r>
              <a:rPr lang="en-US" dirty="0"/>
              <a:t>what is the payload of the packet?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5995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FFBC2-AA07-805E-7829-9B9FEB247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3298C-FFA5-4116-C3C3-3A6B02C20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5: posting one-sided verb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ED463-E5C2-D526-D4AD-444D9A3EE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send the book list using one-sided verb</a:t>
            </a:r>
          </a:p>
          <a:p>
            <a:pPr lvl="1"/>
            <a:r>
              <a:rPr lang="en-US" sz="2400" dirty="0"/>
              <a:t>we want the client to write in the remote memory (RDMA Write)</a:t>
            </a:r>
          </a:p>
          <a:p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server.py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needs to be modified to handle remote operations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copy the </a:t>
            </a:r>
            <a:r>
              <a:rPr lang="en-US" sz="28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server.py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script into a new file </a:t>
            </a:r>
            <a:r>
              <a:rPr lang="en-US" sz="28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server_rdma.py</a:t>
            </a:r>
            <a:endParaRPr lang="en-US" sz="2800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</a:t>
            </a:r>
            <a:r>
              <a:rPr lang="en-US" sz="28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server_rdma.py</a:t>
            </a:r>
            <a:endParaRPr lang="en-US" sz="2800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the MR initialization flags to accept remote writes</a:t>
            </a:r>
          </a:p>
          <a:p>
            <a:pPr lvl="2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the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IBV_ACCESS_REMOTE_WRITE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flag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the QP access flags (in the INIT transition) to make the QP able to handle remote operations</a:t>
            </a:r>
          </a:p>
          <a:p>
            <a:pPr lvl="2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the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IBV_ACCESS_REMOTE_WRITE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flag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remove the posting of the WR on the Receive Queue</a:t>
            </a:r>
          </a:p>
        </p:txBody>
      </p:sp>
    </p:spTree>
    <p:extLst>
      <p:ext uri="{BB962C8B-B14F-4D97-AF65-F5344CB8AC3E}">
        <p14:creationId xmlns:p14="http://schemas.microsoft.com/office/powerpoint/2010/main" val="24881772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871F6-FE81-6FCF-84C5-5C9C136F9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9C7BD-EC27-8AA3-D7A6-AF66EBEF1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5: posting one-sided verb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768C5-0122-F01C-10E0-34A8E7F64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send the book list using one-sided verb</a:t>
            </a:r>
            <a:endParaRPr lang="en-US" sz="2400" dirty="0"/>
          </a:p>
          <a:p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client.py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needs to be modified to post a RDMA Write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copy the </a:t>
            </a:r>
            <a:r>
              <a:rPr lang="en-US" sz="28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client.py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script into a new file </a:t>
            </a:r>
            <a:r>
              <a:rPr lang="en-US" sz="28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client_rdma.py</a:t>
            </a:r>
            <a:endParaRPr lang="en-US" sz="2800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</a:t>
            </a:r>
            <a:r>
              <a:rPr lang="en-US" sz="28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client_rdma.py</a:t>
            </a:r>
            <a:endParaRPr lang="en-US" sz="2800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the type of WR to post (with the same SGE list)</a:t>
            </a:r>
          </a:p>
          <a:p>
            <a:pPr lvl="2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the operation to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IBV_WR_RDMA_WRITE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configure the RDMA WR fields</a:t>
            </a:r>
          </a:p>
          <a:p>
            <a:pPr lvl="2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through the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wr.set_wr_rdma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method</a:t>
            </a:r>
          </a:p>
          <a:p>
            <a:pPr lvl="2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want to write from the starting address of the remote MR</a:t>
            </a:r>
          </a:p>
        </p:txBody>
      </p:sp>
    </p:spTree>
    <p:extLst>
      <p:ext uri="{BB962C8B-B14F-4D97-AF65-F5344CB8AC3E}">
        <p14:creationId xmlns:p14="http://schemas.microsoft.com/office/powerpoint/2010/main" val="36910951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1CA0E-D6DF-4DFB-D003-2FA4AC849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17F6C-023D-CD46-0CCD-166EF705A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5: test the data exchange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BC2A8-06A6-3EFF-88A6-CC7280537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test if the data is exchanged correctly</a:t>
            </a:r>
          </a:p>
          <a:p>
            <a:r>
              <a:rPr lang="en-US" dirty="0"/>
              <a:t>first, let’s start a </a:t>
            </a:r>
            <a:r>
              <a:rPr lang="en-US" dirty="0" err="1"/>
              <a:t>tcpdump</a:t>
            </a:r>
            <a:r>
              <a:rPr lang="en-US" dirty="0"/>
              <a:t> on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tapper</a:t>
            </a:r>
            <a:r>
              <a:rPr lang="en-US" dirty="0"/>
              <a:t> device:</a:t>
            </a:r>
          </a:p>
          <a:p>
            <a:pPr marL="0" indent="0" algn="ctr">
              <a:buNone/>
            </a:pPr>
            <a:r>
              <a:rPr lang="it-IT" sz="3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tcpdump</a:t>
            </a:r>
            <a:r>
              <a:rPr lang="it-IT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 -i eth0 -</a:t>
            </a:r>
            <a:r>
              <a:rPr lang="it-IT" sz="3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w</a:t>
            </a:r>
            <a:r>
              <a:rPr lang="it-IT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 /</a:t>
            </a:r>
            <a:r>
              <a:rPr lang="it-IT" sz="3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shared</a:t>
            </a:r>
            <a:r>
              <a:rPr lang="it-IT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it-IT" sz="3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write.pcap</a:t>
            </a:r>
            <a:endParaRPr lang="en-US" dirty="0"/>
          </a:p>
          <a:p>
            <a:r>
              <a:rPr lang="en-US" dirty="0"/>
              <a:t>on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server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device</a:t>
            </a:r>
            <a:r>
              <a:rPr lang="en-US" dirty="0"/>
              <a:t>:</a:t>
            </a:r>
          </a:p>
          <a:p>
            <a:pPr marL="0" indent="0" algn="ctr">
              <a:buNone/>
            </a:pPr>
            <a:r>
              <a:rPr lang="en-GB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python3 /shared/</a:t>
            </a:r>
            <a:r>
              <a:rPr lang="en-GB" sz="3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server_rdma.py</a:t>
            </a:r>
            <a:r>
              <a:rPr lang="en-GB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 rxe1</a:t>
            </a:r>
            <a:endParaRPr lang="en-US" dirty="0"/>
          </a:p>
          <a:p>
            <a:r>
              <a:rPr lang="en-US" dirty="0"/>
              <a:t>on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device</a:t>
            </a:r>
            <a:r>
              <a:rPr lang="en-US" dirty="0"/>
              <a:t>:</a:t>
            </a:r>
          </a:p>
          <a:p>
            <a:pPr marL="0" indent="0" algn="ctr">
              <a:buNone/>
            </a:pPr>
            <a:r>
              <a:rPr lang="en-GB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python3 /shared/</a:t>
            </a:r>
            <a:r>
              <a:rPr lang="en-GB" sz="3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client_rdma.py</a:t>
            </a:r>
            <a:r>
              <a:rPr lang="en-GB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 rxe0 10.0.0.3</a:t>
            </a:r>
          </a:p>
        </p:txBody>
      </p:sp>
    </p:spTree>
    <p:extLst>
      <p:ext uri="{BB962C8B-B14F-4D97-AF65-F5344CB8AC3E}">
        <p14:creationId xmlns:p14="http://schemas.microsoft.com/office/powerpoint/2010/main" val="442091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13170-4203-9AEC-AA12-434C1D4C5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FEFD8-8B69-FB07-E68E-BDFFEAD15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5: test the data exchange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F6727-99FA-02F2-B16A-B4FE0A497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result of the operation on client and server?</a:t>
            </a:r>
          </a:p>
          <a:p>
            <a:r>
              <a:rPr lang="en-US" dirty="0"/>
              <a:t>is the list of book titles printed on the server?</a:t>
            </a:r>
          </a:p>
          <a:p>
            <a:pPr lvl="1"/>
            <a:r>
              <a:rPr lang="en-US" dirty="0"/>
              <a:t>can you explain why?</a:t>
            </a:r>
          </a:p>
          <a:p>
            <a:r>
              <a:rPr lang="en-US" dirty="0"/>
              <a:t>from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shared</a:t>
            </a:r>
            <a:r>
              <a:rPr lang="en-US" dirty="0"/>
              <a:t> folder in the lab directory, open the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send.pcap</a:t>
            </a:r>
            <a:r>
              <a:rPr lang="en-US" dirty="0"/>
              <a:t> file using Wireshark</a:t>
            </a:r>
          </a:p>
          <a:p>
            <a:pPr lvl="1"/>
            <a:r>
              <a:rPr lang="en-US" dirty="0"/>
              <a:t>can you identify the RDMA Write?</a:t>
            </a:r>
          </a:p>
          <a:p>
            <a:pPr lvl="1"/>
            <a:r>
              <a:rPr lang="en-US" dirty="0"/>
              <a:t>what is the payload?</a:t>
            </a:r>
          </a:p>
          <a:p>
            <a:pPr lvl="1"/>
            <a:r>
              <a:rPr lang="en-US" dirty="0"/>
              <a:t>extra: look at the IB headers, you can identify all the remote information that we passed when posting the request!</a:t>
            </a:r>
          </a:p>
        </p:txBody>
      </p:sp>
    </p:spTree>
    <p:extLst>
      <p:ext uri="{BB962C8B-B14F-4D97-AF65-F5344CB8AC3E}">
        <p14:creationId xmlns:p14="http://schemas.microsoft.com/office/powerpoint/2010/main" val="26288544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02DFE-55BC-8859-700C-62E6CBACA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3B44C-BBA2-BD8E-E684-23B248963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6: RDMA op notification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48501-3643-E02A-ACE9-FADC349A0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need an additional mechanism to notify the RDMA op</a:t>
            </a:r>
          </a:p>
          <a:p>
            <a:r>
              <a:rPr lang="en-US" dirty="0"/>
              <a:t>two ways:</a:t>
            </a:r>
          </a:p>
          <a:p>
            <a:pPr lvl="1"/>
            <a:r>
              <a:rPr lang="en-US" dirty="0"/>
              <a:t>poll the MR and check when the first byte != 0</a:t>
            </a:r>
          </a:p>
          <a:p>
            <a:pPr lvl="2"/>
            <a:r>
              <a:rPr lang="en-US" dirty="0"/>
              <a:t>inefficient!</a:t>
            </a:r>
          </a:p>
          <a:p>
            <a:pPr lvl="2"/>
            <a:r>
              <a:rPr lang="en-US" dirty="0"/>
              <a:t>used in this lab</a:t>
            </a:r>
          </a:p>
          <a:p>
            <a:pPr lvl="1"/>
            <a:r>
              <a:rPr lang="en-US" dirty="0"/>
              <a:t>use RDMA Operation With Immediate</a:t>
            </a:r>
          </a:p>
          <a:p>
            <a:pPr lvl="2"/>
            <a:r>
              <a:rPr lang="en-US" dirty="0"/>
              <a:t>efficient</a:t>
            </a:r>
            <a:endParaRPr lang="en-US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348818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66E02-1E59-1399-3368-E188E5AE5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90C5B-BADB-FBD5-34E7-A8D773DD6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6: RDMA op notification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C5102-AA30-F81F-86BA-B3E0F6895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5145965"/>
          </a:xfrm>
        </p:spPr>
        <p:txBody>
          <a:bodyPr/>
          <a:lstStyle/>
          <a:p>
            <a:r>
              <a:rPr lang="en-US" dirty="0"/>
              <a:t>poll the MR and check when the first byte != 0</a:t>
            </a:r>
          </a:p>
          <a:p>
            <a:r>
              <a:rPr lang="en-US" dirty="0"/>
              <a:t>modify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server_rdma.py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dirty="0"/>
              <a:t>after the CQ thread starts, add the following snippet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start again the Python scripts</a:t>
            </a:r>
          </a:p>
          <a:p>
            <a:r>
              <a:rPr lang="en-US" dirty="0"/>
              <a:t>what is the output on the server? </a:t>
            </a:r>
          </a:p>
          <a:p>
            <a:r>
              <a:rPr lang="en-US" dirty="0"/>
              <a:t>is the book list now printed on the server?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5F14C6-D367-3B9C-486C-C99E74FC36B9}"/>
              </a:ext>
            </a:extLst>
          </p:cNvPr>
          <p:cNvSpPr txBox="1"/>
          <p:nvPr/>
        </p:nvSpPr>
        <p:spPr>
          <a:xfrm>
            <a:off x="3047308" y="3247095"/>
            <a:ext cx="60973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while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mr.read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(length=1, offset=0) == b"\x00":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print("Polling memory")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time.sleep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(1)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dump_mr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8066769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1E8AD-7AFA-D51E-B88F-9CCCB6A3D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09040-1F0B-A446-4435-28D82FC70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stop the lab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D899B9F9-570E-7981-C334-C80F11DEA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/>
              <a:t>open a terminal</a:t>
            </a:r>
          </a:p>
          <a:p>
            <a:r>
              <a:rPr lang="en-GB" dirty="0"/>
              <a:t>enter the lab directory (</a:t>
            </a:r>
            <a:r>
              <a:rPr lang="en-GB" b="1" dirty="0">
                <a:latin typeface="Consolas" panose="020B0609020204030204" pitchFamily="49" charset="0"/>
              </a:rPr>
              <a:t>cd </a:t>
            </a:r>
            <a:r>
              <a:rPr lang="en-GB" b="1" dirty="0" err="1">
                <a:latin typeface="Consolas" panose="020B0609020204030204" pitchFamily="49" charset="0"/>
              </a:rPr>
              <a:t>lab_directory</a:t>
            </a:r>
            <a:r>
              <a:rPr lang="en-GB" dirty="0"/>
              <a:t>)</a:t>
            </a:r>
          </a:p>
          <a:p>
            <a:r>
              <a:rPr lang="en-GB" dirty="0"/>
              <a:t>run </a:t>
            </a:r>
            <a:r>
              <a:rPr lang="en-GB" b="1" dirty="0" err="1">
                <a:latin typeface="Consolas" panose="020B0609020204030204" pitchFamily="49" charset="0"/>
              </a:rPr>
              <a:t>kathara</a:t>
            </a:r>
            <a:r>
              <a:rPr lang="en-GB" b="1" dirty="0">
                <a:latin typeface="Consolas" panose="020B0609020204030204" pitchFamily="49" charset="0"/>
              </a:rPr>
              <a:t> </a:t>
            </a:r>
            <a:r>
              <a:rPr lang="en-GB" b="1" dirty="0" err="1">
                <a:latin typeface="Consolas" panose="020B0609020204030204" pitchFamily="49" charset="0"/>
              </a:rPr>
              <a:t>lclean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4342070"/>
      </p:ext>
    </p:extLst>
  </p:cSld>
  <p:clrMapOvr>
    <a:masterClrMapping/>
  </p:clrMapOvr>
</p:sld>
</file>

<file path=ppt/theme/theme1.xml><?xml version="1.0" encoding="utf-8"?>
<a:theme xmlns:a="http://schemas.openxmlformats.org/drawingml/2006/main" name="slides-template">
  <a:themeElements>
    <a:clrScheme name="slides-template 14">
      <a:dk1>
        <a:srgbClr val="000000"/>
      </a:dk1>
      <a:lt1>
        <a:srgbClr val="FFFFFF"/>
      </a:lt1>
      <a:dk2>
        <a:srgbClr val="FF0000"/>
      </a:dk2>
      <a:lt2>
        <a:srgbClr val="808080"/>
      </a:lt2>
      <a:accent1>
        <a:srgbClr val="483FFF"/>
      </a:accent1>
      <a:accent2>
        <a:srgbClr val="FCEA04"/>
      </a:accent2>
      <a:accent3>
        <a:srgbClr val="FFFFFF"/>
      </a:accent3>
      <a:accent4>
        <a:srgbClr val="000000"/>
      </a:accent4>
      <a:accent5>
        <a:srgbClr val="B1AFFF"/>
      </a:accent5>
      <a:accent6>
        <a:srgbClr val="E4D403"/>
      </a:accent6>
      <a:hlink>
        <a:srgbClr val="009999"/>
      </a:hlink>
      <a:folHlink>
        <a:srgbClr val="99CC00"/>
      </a:folHlink>
    </a:clrScheme>
    <a:fontScheme name="slides-templat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lides-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3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99C4DF"/>
        </a:accent1>
        <a:accent2>
          <a:srgbClr val="FCEA04"/>
        </a:accent2>
        <a:accent3>
          <a:srgbClr val="FFFFFF"/>
        </a:accent3>
        <a:accent4>
          <a:srgbClr val="000000"/>
        </a:accent4>
        <a:accent5>
          <a:srgbClr val="CADEEC"/>
        </a:accent5>
        <a:accent6>
          <a:srgbClr val="E4D403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14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483FFF"/>
        </a:accent1>
        <a:accent2>
          <a:srgbClr val="FCEA04"/>
        </a:accent2>
        <a:accent3>
          <a:srgbClr val="FFFFFF"/>
        </a:accent3>
        <a:accent4>
          <a:srgbClr val="000000"/>
        </a:accent4>
        <a:accent5>
          <a:srgbClr val="B1AFFF"/>
        </a:accent5>
        <a:accent6>
          <a:srgbClr val="E4D403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Kathara Template.potx" id="{67086D06-3C1B-4740-8490-890E3B31593B}" vid="{4E3C4B13-5F46-4568-B1F8-FF7AEBCEBC5E}"/>
    </a:ext>
  </a:extLst>
</a:theme>
</file>

<file path=ppt/theme/theme2.xml><?xml version="1.0" encoding="utf-8"?>
<a:theme xmlns:a="http://schemas.openxmlformats.org/drawingml/2006/main" name="1_slides-template">
  <a:themeElements>
    <a:clrScheme name="slides-template 14">
      <a:dk1>
        <a:srgbClr val="000000"/>
      </a:dk1>
      <a:lt1>
        <a:srgbClr val="FFFFFF"/>
      </a:lt1>
      <a:dk2>
        <a:srgbClr val="FF0000"/>
      </a:dk2>
      <a:lt2>
        <a:srgbClr val="808080"/>
      </a:lt2>
      <a:accent1>
        <a:srgbClr val="483FFF"/>
      </a:accent1>
      <a:accent2>
        <a:srgbClr val="FCEA04"/>
      </a:accent2>
      <a:accent3>
        <a:srgbClr val="FFFFFF"/>
      </a:accent3>
      <a:accent4>
        <a:srgbClr val="000000"/>
      </a:accent4>
      <a:accent5>
        <a:srgbClr val="B1AFFF"/>
      </a:accent5>
      <a:accent6>
        <a:srgbClr val="E4D403"/>
      </a:accent6>
      <a:hlink>
        <a:srgbClr val="009999"/>
      </a:hlink>
      <a:folHlink>
        <a:srgbClr val="99CC00"/>
      </a:folHlink>
    </a:clrScheme>
    <a:fontScheme name="slides-templat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lides-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3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99C4DF"/>
        </a:accent1>
        <a:accent2>
          <a:srgbClr val="FCEA04"/>
        </a:accent2>
        <a:accent3>
          <a:srgbClr val="FFFFFF"/>
        </a:accent3>
        <a:accent4>
          <a:srgbClr val="000000"/>
        </a:accent4>
        <a:accent5>
          <a:srgbClr val="CADEEC"/>
        </a:accent5>
        <a:accent6>
          <a:srgbClr val="E4D403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14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483FFF"/>
        </a:accent1>
        <a:accent2>
          <a:srgbClr val="FCEA04"/>
        </a:accent2>
        <a:accent3>
          <a:srgbClr val="FFFFFF"/>
        </a:accent3>
        <a:accent4>
          <a:srgbClr val="000000"/>
        </a:accent4>
        <a:accent5>
          <a:srgbClr val="B1AFFF"/>
        </a:accent5>
        <a:accent6>
          <a:srgbClr val="E4D403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2" id="{CEF9E157-3A07-1948-A978-1A0E0EF844D0}" vid="{6931B5DE-37A9-0140-8222-582175C387CF}"/>
    </a:ext>
  </a:ext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Kathara Template</Template>
  <TotalTime>7432</TotalTime>
  <Words>5506</Words>
  <Application>Microsoft Macintosh PowerPoint</Application>
  <PresentationFormat>Widescreen</PresentationFormat>
  <Paragraphs>827</Paragraphs>
  <Slides>58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58</vt:i4>
      </vt:variant>
    </vt:vector>
  </HeadingPairs>
  <TitlesOfParts>
    <vt:vector size="66" baseType="lpstr">
      <vt:lpstr>Arial</vt:lpstr>
      <vt:lpstr>Cambria Math</vt:lpstr>
      <vt:lpstr>Consolas</vt:lpstr>
      <vt:lpstr>Courier New</vt:lpstr>
      <vt:lpstr>Tahoma</vt:lpstr>
      <vt:lpstr>Wingdings</vt:lpstr>
      <vt:lpstr>slides-template</vt:lpstr>
      <vt:lpstr>1_slides-template</vt:lpstr>
      <vt:lpstr>IK2227 – Lab 4: RDMA</vt:lpstr>
      <vt:lpstr>recap on Infiniband</vt:lpstr>
      <vt:lpstr>Infiniband verbs</vt:lpstr>
      <vt:lpstr>Remote Direct Memory Access (RDMA)</vt:lpstr>
      <vt:lpstr>RDMA verbs</vt:lpstr>
      <vt:lpstr>RDMA verbs</vt:lpstr>
      <vt:lpstr>RDMA over Converged Ethernet (RoCE)</vt:lpstr>
      <vt:lpstr>Infiniband terminology (1)</vt:lpstr>
      <vt:lpstr>Infiniband terminology (2)</vt:lpstr>
      <vt:lpstr>sender example</vt:lpstr>
      <vt:lpstr>sender example</vt:lpstr>
      <vt:lpstr>sender example</vt:lpstr>
      <vt:lpstr>sender example</vt:lpstr>
      <vt:lpstr>receiver example (for two-sided)</vt:lpstr>
      <vt:lpstr>receiver example (for two-sided)</vt:lpstr>
      <vt:lpstr>implementation</vt:lpstr>
      <vt:lpstr>Infiniband Verbs in Linux</vt:lpstr>
      <vt:lpstr>Infiniband connection</vt:lpstr>
      <vt:lpstr>Infiniband connection lifecycle</vt:lpstr>
      <vt:lpstr>pre-flight check</vt:lpstr>
      <vt:lpstr>off-band TCP connection</vt:lpstr>
      <vt:lpstr>memory registration</vt:lpstr>
      <vt:lpstr>QP creation</vt:lpstr>
      <vt:lpstr>QP configuration</vt:lpstr>
      <vt:lpstr>QP configuration</vt:lpstr>
      <vt:lpstr>QP configuration</vt:lpstr>
      <vt:lpstr>QP configuration</vt:lpstr>
      <vt:lpstr>QP configuration</vt:lpstr>
      <vt:lpstr>QP configuration</vt:lpstr>
      <vt:lpstr>QP configuration</vt:lpstr>
      <vt:lpstr>CQ polling thread creation</vt:lpstr>
      <vt:lpstr>posting verbs (two-sided)</vt:lpstr>
      <vt:lpstr>posting verbs (two-sided)</vt:lpstr>
      <vt:lpstr>posting verbs (one-sided)</vt:lpstr>
      <vt:lpstr>Scatter-Gather Entry (SGE)</vt:lpstr>
      <vt:lpstr>lab deep dive</vt:lpstr>
      <vt:lpstr>lab pre-conditions</vt:lpstr>
      <vt:lpstr>lab topology</vt:lpstr>
      <vt:lpstr>SoftRoCE</vt:lpstr>
      <vt:lpstr>SoftRoCE configuration example</vt:lpstr>
      <vt:lpstr>goal of the lab</vt:lpstr>
      <vt:lpstr>task 1: complete the lab</vt:lpstr>
      <vt:lpstr>start the lab</vt:lpstr>
      <vt:lpstr>task 2: complete the IB connections</vt:lpstr>
      <vt:lpstr>task 2: complete the IB connections</vt:lpstr>
      <vt:lpstr>task 3: test the IB connection</vt:lpstr>
      <vt:lpstr>task 4: posting two-sided verbs</vt:lpstr>
      <vt:lpstr>task 4: posting two-sided verbs</vt:lpstr>
      <vt:lpstr>task 4: posting two-sided verbs</vt:lpstr>
      <vt:lpstr>task 4: test the data exchange</vt:lpstr>
      <vt:lpstr>task 4: test the data exchange</vt:lpstr>
      <vt:lpstr>task 5: posting one-sided verb</vt:lpstr>
      <vt:lpstr>task 5: posting one-sided verb</vt:lpstr>
      <vt:lpstr>task 5: test the data exchange</vt:lpstr>
      <vt:lpstr>task 5: test the data exchange</vt:lpstr>
      <vt:lpstr>task 6: RDMA op notification</vt:lpstr>
      <vt:lpstr>task 6: RDMA op notification</vt:lpstr>
      <vt:lpstr>stop the lab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gdb</dc:creator>
  <cp:lastModifiedBy>Mariano Scazzariello</cp:lastModifiedBy>
  <cp:revision>123</cp:revision>
  <cp:lastPrinted>2022-12-21T17:46:04Z</cp:lastPrinted>
  <dcterms:created xsi:type="dcterms:W3CDTF">1601-01-01T00:00:00Z</dcterms:created>
  <dcterms:modified xsi:type="dcterms:W3CDTF">2025-02-25T21:51:45Z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MSIP_Label_680afd86-dcf7-4483-b9eb-5af1dcd104e1_Enabled">
    <vt:lpwstr>true</vt:lpwstr>
  </property>
  <property fmtid="{D5CDD505-2E9C-101B-9397-08002B2CF9AE}" pid="4" name="MSIP_Label_680afd86-dcf7-4483-b9eb-5af1dcd104e1_SetDate">
    <vt:lpwstr>2025-02-03T09:09:09Z</vt:lpwstr>
  </property>
  <property fmtid="{D5CDD505-2E9C-101B-9397-08002B2CF9AE}" pid="5" name="MSIP_Label_680afd86-dcf7-4483-b9eb-5af1dcd104e1_Method">
    <vt:lpwstr>Standard</vt:lpwstr>
  </property>
  <property fmtid="{D5CDD505-2E9C-101B-9397-08002B2CF9AE}" pid="6" name="MSIP_Label_680afd86-dcf7-4483-b9eb-5af1dcd104e1_Name">
    <vt:lpwstr>K2 Intern</vt:lpwstr>
  </property>
  <property fmtid="{D5CDD505-2E9C-101B-9397-08002B2CF9AE}" pid="7" name="MSIP_Label_680afd86-dcf7-4483-b9eb-5af1dcd104e1_SiteId">
    <vt:lpwstr>5a9809cf-0bcb-413a-838a-09ecc40cc9e8</vt:lpwstr>
  </property>
  <property fmtid="{D5CDD505-2E9C-101B-9397-08002B2CF9AE}" pid="8" name="MSIP_Label_680afd86-dcf7-4483-b9eb-5af1dcd104e1_ActionId">
    <vt:lpwstr>4d0b69d4-1706-4eb2-bde5-34bf0753f193</vt:lpwstr>
  </property>
  <property fmtid="{D5CDD505-2E9C-101B-9397-08002B2CF9AE}" pid="9" name="MSIP_Label_680afd86-dcf7-4483-b9eb-5af1dcd104e1_ContentBits">
    <vt:lpwstr>0</vt:lpwstr>
  </property>
</Properties>
</file>